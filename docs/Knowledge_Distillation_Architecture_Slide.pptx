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488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Knowledge Distillation Architecture: Teacher to TinyML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B5563"/>
                </a:solidFill>
              </a:defRPr>
            </a:pPr>
            <a:r>
              <a:t>Objective: compress high-capacity driver-distraction teachers into a microcontroller-ready INT8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50392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t>Teacher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3320" y="850392"/>
            <a:ext cx="37490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t>Distillation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54112" y="850392"/>
            <a:ext cx="39776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t>Student Model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70432"/>
            <a:ext cx="3246120" cy="1033271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t>High-capacity teacher</a:t>
            </a:r>
          </a:p>
          <a:p>
            <a:pPr algn="ctr">
              <a:defRPr sz="840">
                <a:solidFill>
                  <a:srgbClr val="111827"/>
                </a:solidFill>
              </a:defRPr>
            </a:pPr>
            <a:r>
              <a:t>TFLite teacher candidates</a:t>
            </a:r>
            <a:br/>
            <a:r>
              <a:t>MobileNetV3 Small / EfficientNetB0</a:t>
            </a:r>
            <a:br/>
            <a:r>
              <a:t>ResNet50 / ConvNeXt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95728"/>
            <a:ext cx="2578608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t>Teacher input</a:t>
            </a:r>
          </a:p>
          <a:p>
            <a:pPr algn="ctr">
              <a:defRPr sz="840">
                <a:solidFill>
                  <a:srgbClr val="111827"/>
                </a:solidFill>
              </a:defRPr>
            </a:pPr>
            <a:r>
              <a:t>224 x 224 x 3 RGB</a:t>
            </a:r>
            <a:br/>
            <a:r>
              <a:t>ImageNet-style preprocessing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364992"/>
            <a:ext cx="2578608" cy="822960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t>Soft labels</a:t>
            </a:r>
          </a:p>
          <a:p>
            <a:pPr algn="ctr">
              <a:defRPr sz="840">
                <a:solidFill>
                  <a:srgbClr val="111827"/>
                </a:solidFill>
              </a:defRPr>
            </a:pPr>
            <a:r>
              <a:t>Teacher outputs 10-class probability vector</a:t>
            </a:r>
            <a:br/>
            <a:r>
              <a:t>Stored as cached .npy files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38528" y="2212848"/>
            <a:ext cx="0" cy="18288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938528" y="3145536"/>
            <a:ext cx="0" cy="219456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03320" y="1234440"/>
            <a:ext cx="1737360" cy="74980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lang="en-IN" sz="1100" b="1" dirty="0"/>
              <a:t>Depth wise-separable CNN</a:t>
            </a:r>
            <a:endParaRPr lang="en-IN" dirty="0"/>
          </a:p>
        </p:txBody>
      </p:sp>
      <p:sp>
        <p:nvSpPr>
          <p:cNvPr id="13" name="Rounded Rectangle 12"/>
          <p:cNvSpPr/>
          <p:nvPr/>
        </p:nvSpPr>
        <p:spPr>
          <a:xfrm>
            <a:off x="5623560" y="1234440"/>
            <a:ext cx="1737360" cy="749808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lang="en-IN" sz="1100" b="1" dirty="0"/>
              <a:t>response-based knowledge distillation</a:t>
            </a:r>
            <a:endParaRPr dirty="0"/>
          </a:p>
          <a:p>
            <a:pPr algn="ctr">
              <a:defRPr sz="840">
                <a:solidFill>
                  <a:srgbClr val="111827"/>
                </a:solidFill>
              </a:defRPr>
            </a:pPr>
            <a:r>
              <a:rPr dirty="0"/>
              <a:t>KL divergence</a:t>
            </a:r>
            <a:br>
              <a:rPr dirty="0"/>
            </a:br>
            <a:r>
              <a:rPr dirty="0"/>
              <a:t>with temperature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2331720"/>
            <a:ext cx="31089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1600" dirty="0"/>
              <a:t>Combined distillation loss</a:t>
            </a:r>
          </a:p>
          <a:p>
            <a:pPr algn="ctr">
              <a:defRPr sz="840">
                <a:solidFill>
                  <a:srgbClr val="111827"/>
                </a:solidFill>
              </a:defRPr>
            </a:pPr>
            <a:r>
              <a:rPr sz="1050" dirty="0"/>
              <a:t>Loss = alpha * CE(hard labels)</a:t>
            </a:r>
            <a:br>
              <a:rPr sz="1050" dirty="0"/>
            </a:br>
            <a:r>
              <a:rPr sz="1050" dirty="0"/>
              <a:t>+ (1 - alpha) * KL(teacher || student) * T^2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3547872"/>
            <a:ext cx="3108960" cy="74980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t>Caching strategy</a:t>
            </a:r>
          </a:p>
          <a:p>
            <a:pPr algn="ctr">
              <a:defRPr sz="840">
                <a:solidFill>
                  <a:srgbClr val="111827"/>
                </a:solidFill>
              </a:defRPr>
            </a:pPr>
            <a:r>
              <a:t>Teacher probabilities cached once</a:t>
            </a:r>
            <a:br/>
            <a:r>
              <a:t>then reused every student epoch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1984248"/>
            <a:ext cx="411480" cy="347472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035040" y="1984248"/>
            <a:ext cx="411480" cy="347472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32120" y="3246120"/>
            <a:ext cx="0" cy="301752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26679" y="1143000"/>
            <a:ext cx="4069080" cy="9601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t>Tiny depthwise-separable CNN</a:t>
            </a:r>
          </a:p>
          <a:p>
            <a:pPr algn="ctr">
              <a:defRPr sz="840">
                <a:solidFill>
                  <a:srgbClr val="111827"/>
                </a:solidFill>
              </a:defRPr>
            </a:pPr>
            <a:r>
              <a:t>Input: 96 x 96 x 3 RGB</a:t>
            </a:r>
            <a:br/>
            <a:r>
              <a:t>Width multiplier: 10</a:t>
            </a:r>
            <a:br/>
            <a:r>
              <a:t>Output: 10 logits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2304288"/>
            <a:ext cx="4069080" cy="12984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t>Layer changes for MCU deployment</a:t>
            </a:r>
          </a:p>
          <a:p>
            <a:pPr algn="ctr">
              <a:defRPr sz="840">
                <a:solidFill>
                  <a:srgbClr val="111827"/>
                </a:solidFill>
              </a:defRPr>
            </a:pPr>
            <a:r>
              <a:t>Conv2D(10, 3x3) + MaxPool</a:t>
            </a:r>
            <a:br/>
            <a:r>
              <a:t>[DepthwiseConv2D + 1x1 Conv + MaxPool] x3</a:t>
            </a:r>
            <a:br/>
            <a:r>
              <a:t>DepthwiseConv2D + 1x1 Conv(50)</a:t>
            </a:r>
            <a:br/>
            <a:r>
              <a:t>GlobalAveragePooling + Dropout(0.2) + Dense(10)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3785615"/>
            <a:ext cx="4069080" cy="749808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t>Deployment conversion</a:t>
            </a:r>
          </a:p>
          <a:p>
            <a:pPr algn="ctr">
              <a:defRPr sz="840">
                <a:solidFill>
                  <a:srgbClr val="111827"/>
                </a:solidFill>
              </a:defRPr>
            </a:pPr>
            <a:r>
              <a:t>Full INT8 TFLite conversion</a:t>
            </a:r>
            <a:br/>
            <a:r>
              <a:t>Representative dataset: first 400 train images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56648" y="2103120"/>
            <a:ext cx="0" cy="201168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756648" y="3602736"/>
            <a:ext cx="0" cy="182879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246120" y="3776472"/>
            <a:ext cx="731519" cy="109728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86600" y="2788920"/>
            <a:ext cx="640079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714825"/>
              </p:ext>
            </p:extLst>
          </p:nvPr>
        </p:nvGraphicFramePr>
        <p:xfrm>
          <a:off x="0" y="4628931"/>
          <a:ext cx="12192000" cy="1662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86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Hyperparameter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 Used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Why it was used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70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11827"/>
                          </a:solidFill>
                        </a:rPr>
                        <a:t>Temperature T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</a:rPr>
                        <a:t>4.0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</a:rPr>
                        <a:t>Softens teacher probabilities so class similarity knowledge is transferred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70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11827"/>
                          </a:solidFill>
                        </a:rPr>
                        <a:t>Alpha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</a:rPr>
                        <a:t>0.45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</a:rPr>
                        <a:t>Balances true label CE with teacher KL loss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70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11827"/>
                          </a:solidFill>
                        </a:rPr>
                        <a:t>Batch size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</a:rPr>
                        <a:t>32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</a:rPr>
                        <a:t>Stable training on laptop while keeping memory manageable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70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11827"/>
                          </a:solidFill>
                        </a:rPr>
                        <a:t>Epochs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</a:rPr>
                        <a:t>60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</a:rPr>
                        <a:t>Allows student to converge; early stopping prevents overtraining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70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11827"/>
                          </a:solidFill>
                        </a:rPr>
                        <a:t>Learning rate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</a:rPr>
                        <a:t>1e-3 Adam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</a:rPr>
                        <a:t>Fast training for small CNN student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71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11827"/>
                          </a:solidFill>
                        </a:rPr>
                        <a:t>Validation split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</a:rPr>
                        <a:t>20% driver-wise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11827"/>
                          </a:solidFill>
                        </a:rPr>
                        <a:t>Avoids same-driver leakage between train and validation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0" y="6521739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dirty="0"/>
              <a:t>Distillation type used: Response-based knowledge distillation from teacher soft probabilities + supervised hard-label learning, followed by INT8 quantization for ESP32/RP2040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295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harikiruthik G.R.</cp:lastModifiedBy>
  <cp:revision>2</cp:revision>
  <dcterms:created xsi:type="dcterms:W3CDTF">2013-01-27T09:14:16Z</dcterms:created>
  <dcterms:modified xsi:type="dcterms:W3CDTF">2026-07-26T13:02:46Z</dcterms:modified>
  <cp:category/>
</cp:coreProperties>
</file>