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7" r:id="rId4"/>
    <p:sldId id="269" r:id="rId5"/>
    <p:sldId id="270" r:id="rId6"/>
    <p:sldId id="265" r:id="rId7"/>
    <p:sldId id="266" r:id="rId8"/>
    <p:sldId id="272" r:id="rId9"/>
    <p:sldId id="276" r:id="rId10"/>
    <p:sldId id="271" r:id="rId11"/>
    <p:sldId id="267" r:id="rId12"/>
    <p:sldId id="268" r:id="rId13"/>
    <p:sldId id="273" r:id="rId14"/>
    <p:sldId id="274" r:id="rId15"/>
    <p:sldId id="264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5F9"/>
    <a:srgbClr val="0000FF"/>
    <a:srgbClr val="FFFFFF"/>
    <a:srgbClr val="EFF3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8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976703e21_3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30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2" name="Google Shape;122;g30976703e21_3_70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10" cy="411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g30976703e21_3_70:notes"/>
          <p:cNvSpPr txBox="1">
            <a:spLocks noGrp="1"/>
          </p:cNvSpPr>
          <p:nvPr>
            <p:ph type="dt" idx="10"/>
          </p:nvPr>
        </p:nvSpPr>
        <p:spPr>
          <a:xfrm>
            <a:off x="3884620" y="0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22 September 2023</a:t>
            </a:r>
          </a:p>
        </p:txBody>
      </p:sp>
      <p:sp>
        <p:nvSpPr>
          <p:cNvPr id="124" name="Google Shape;124;g30976703e21_3_70:notes"/>
          <p:cNvSpPr txBox="1">
            <a:spLocks noGrp="1"/>
          </p:cNvSpPr>
          <p:nvPr>
            <p:ph type="ftr" idx="11"/>
          </p:nvPr>
        </p:nvSpPr>
        <p:spPr>
          <a:xfrm>
            <a:off x="1" y="8685224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1-59</a:t>
            </a:r>
          </a:p>
        </p:txBody>
      </p:sp>
      <p:sp>
        <p:nvSpPr>
          <p:cNvPr id="125" name="Google Shape;125;g30976703e21_3_70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976703e21_3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30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g30976703e21_3_88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10" cy="411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0976703e21_3_88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fld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976703e21_3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30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g30976703e21_3_88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10" cy="411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0976703e21_3_88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fld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976703e21_3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30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g30976703e21_3_88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10" cy="411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0976703e21_3_88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ECC43FA-64D9-EE67-75C7-15D04CC2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976703e21_3_88:notes">
            <a:extLst>
              <a:ext uri="{FF2B5EF4-FFF2-40B4-BE49-F238E27FC236}">
                <a16:creationId xmlns:a16="http://schemas.microsoft.com/office/drawing/2014/main" id="{60F0EF5C-3AD5-345D-A5DB-6EFAE7546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30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g30976703e21_3_88:notes">
            <a:extLst>
              <a:ext uri="{FF2B5EF4-FFF2-40B4-BE49-F238E27FC236}">
                <a16:creationId xmlns:a16="http://schemas.microsoft.com/office/drawing/2014/main" id="{47D78481-82C3-EA6E-95B7-71539B2AC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10" cy="411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0976703e21_3_88:notes">
            <a:extLst>
              <a:ext uri="{FF2B5EF4-FFF2-40B4-BE49-F238E27FC236}">
                <a16:creationId xmlns:a16="http://schemas.microsoft.com/office/drawing/2014/main" id="{954E41CA-1EED-F71D-8739-F93ADA394C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</a:t>
            </a:fld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04998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976703e21_3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30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g30976703e21_3_88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10" cy="411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0976703e21_3_88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fld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976703e21_3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30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g30976703e21_3_88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10" cy="411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0976703e21_3_88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11</a:t>
            </a:fld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39C0211-7371-4A64-4AF3-13034F15D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976703e21_3_88:notes">
            <a:extLst>
              <a:ext uri="{FF2B5EF4-FFF2-40B4-BE49-F238E27FC236}">
                <a16:creationId xmlns:a16="http://schemas.microsoft.com/office/drawing/2014/main" id="{D1A59C51-1E5D-40CC-BF70-D934CE9C6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30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g30976703e21_3_88:notes">
            <a:extLst>
              <a:ext uri="{FF2B5EF4-FFF2-40B4-BE49-F238E27FC236}">
                <a16:creationId xmlns:a16="http://schemas.microsoft.com/office/drawing/2014/main" id="{A80923F4-1F67-717A-47DB-3D4F19AFDB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10" cy="411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0976703e21_3_88:notes">
            <a:extLst>
              <a:ext uri="{FF2B5EF4-FFF2-40B4-BE49-F238E27FC236}">
                <a16:creationId xmlns:a16="http://schemas.microsoft.com/office/drawing/2014/main" id="{BD0D642D-FEDB-9373-4210-FC88921A8E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12</a:t>
            </a:fld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72343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B7E567D-70C7-A2DF-D4EF-1A9B82222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976703e21_3_88:notes">
            <a:extLst>
              <a:ext uri="{FF2B5EF4-FFF2-40B4-BE49-F238E27FC236}">
                <a16:creationId xmlns:a16="http://schemas.microsoft.com/office/drawing/2014/main" id="{1B4EE513-5138-75C9-DF09-BD6CC689B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30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g30976703e21_3_88:notes">
            <a:extLst>
              <a:ext uri="{FF2B5EF4-FFF2-40B4-BE49-F238E27FC236}">
                <a16:creationId xmlns:a16="http://schemas.microsoft.com/office/drawing/2014/main" id="{54ED1174-90A4-AF72-CA38-63D967A5F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10" cy="411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30976703e21_3_88:notes">
            <a:extLst>
              <a:ext uri="{FF2B5EF4-FFF2-40B4-BE49-F238E27FC236}">
                <a16:creationId xmlns:a16="http://schemas.microsoft.com/office/drawing/2014/main" id="{3FB53F3D-2587-94D5-553F-051961B162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5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13</a:t>
            </a:fld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77352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0976703e21_3_142:notes"/>
          <p:cNvSpPr txBox="1">
            <a:spLocks noGrp="1"/>
          </p:cNvSpPr>
          <p:nvPr>
            <p:ph type="body" idx="1"/>
          </p:nvPr>
        </p:nvSpPr>
        <p:spPr>
          <a:xfrm>
            <a:off x="685802" y="4343406"/>
            <a:ext cx="5486410" cy="4114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0976703e21_3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30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 panose="020B0604020202020204"/>
              <a:buNone/>
              <a:defRPr sz="5600" b="1">
                <a:solidFill>
                  <a:srgbClr val="4CE0E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457200" y="1451372"/>
            <a:ext cx="8229600" cy="3292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 panose="020B0604020202020204"/>
              <a:buNone/>
              <a:defRPr sz="5600" b="1" cap="none">
                <a:solidFill>
                  <a:srgbClr val="4AE3A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530352" y="2028498"/>
            <a:ext cx="7772400" cy="1132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457200" y="1440064"/>
            <a:ext cx="4038600" cy="332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648200" y="1440064"/>
            <a:ext cx="4038600" cy="332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4645025" y="1394818"/>
            <a:ext cx="4041775" cy="491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3"/>
          </p:nvPr>
        </p:nvSpPr>
        <p:spPr>
          <a:xfrm>
            <a:off x="457200" y="1885950"/>
            <a:ext cx="4040188" cy="288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4"/>
          </p:nvPr>
        </p:nvSpPr>
        <p:spPr>
          <a:xfrm>
            <a:off x="4645025" y="1885950"/>
            <a:ext cx="4041775" cy="288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 panose="020B0604020202020204"/>
              <a:buNone/>
              <a:defRPr sz="5000" b="0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>
            <a:off x="685800" y="385764"/>
            <a:ext cx="2743200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 panose="020B0604020202020204"/>
              <a:buNone/>
              <a:defRPr sz="2600" b="0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1"/>
          </p:nvPr>
        </p:nvSpPr>
        <p:spPr>
          <a:xfrm>
            <a:off x="685800" y="1257300"/>
            <a:ext cx="27432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2"/>
          </p:nvPr>
        </p:nvSpPr>
        <p:spPr>
          <a:xfrm>
            <a:off x="3575050" y="1257300"/>
            <a:ext cx="511175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/>
          <p:nvPr/>
        </p:nvSpPr>
        <p:spPr>
          <a:xfrm rot="-10484314" flipH="1">
            <a:off x="3174030" y="822169"/>
            <a:ext cx="5240690" cy="3103874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22"/>
          <p:cNvSpPr/>
          <p:nvPr/>
        </p:nvSpPr>
        <p:spPr>
          <a:xfrm rot="-10484314" flipH="1">
            <a:off x="8004428" y="4019214"/>
            <a:ext cx="155069" cy="117353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9" name="Google Shape;99;p22"/>
          <p:cNvSpPr/>
          <p:nvPr/>
        </p:nvSpPr>
        <p:spPr>
          <a:xfrm rot="10800000" flipH="1">
            <a:off x="-9525" y="4362450"/>
            <a:ext cx="9163050" cy="78105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" name="Google Shape;100;p22"/>
          <p:cNvSpPr/>
          <p:nvPr/>
        </p:nvSpPr>
        <p:spPr>
          <a:xfrm rot="10800000" flipH="1">
            <a:off x="4381500" y="4664869"/>
            <a:ext cx="4762500" cy="478631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22"/>
          <p:cNvSpPr txBox="1"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20204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609600" y="2121589"/>
            <a:ext cx="2209800" cy="1634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 panose="020B0604020202020204"/>
              <a:buNone/>
              <a:defRPr sz="1300"/>
            </a:lvl1pPr>
            <a:lvl2pPr marL="914400" lvl="1" indent="-28956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2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>
            <a:spLocks noGrp="1"/>
          </p:cNvSpPr>
          <p:nvPr>
            <p:ph type="pic" idx="2"/>
          </p:nvPr>
        </p:nvSpPr>
        <p:spPr>
          <a:xfrm rot="315686">
            <a:off x="3493306" y="891146"/>
            <a:ext cx="4602693" cy="2965924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4" name="Google Shape;104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1"/>
          </p:nvPr>
        </p:nvSpPr>
        <p:spPr>
          <a:xfrm rot="5400000">
            <a:off x="2925961" y="-1017389"/>
            <a:ext cx="3292078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 rot="5400000">
            <a:off x="5703689" y="1611512"/>
            <a:ext cx="390882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1"/>
          </p:nvPr>
        </p:nvSpPr>
        <p:spPr>
          <a:xfrm rot="5400000">
            <a:off x="1512689" y="-369688"/>
            <a:ext cx="390882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451372"/>
            <a:ext cx="8229600" cy="3292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20040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09880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tile tx="0" ty="0" sx="99996" sy="80002" flip="none" algn="tl"/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/>
        </p:nvSpPr>
        <p:spPr>
          <a:xfrm>
            <a:off x="2631440" y="229235"/>
            <a:ext cx="6108065" cy="163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 panose="02020603050405020304"/>
              <a:buNone/>
            </a:pPr>
            <a:r>
              <a:rPr lang="en-GB" sz="2400" b="1" i="0" u="none" strike="noStrike" cap="none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KONGU ENGINEERING COLLEGE</a:t>
            </a:r>
            <a:r>
              <a:rPr lang="en-GB" sz="1800" b="1" i="0" u="none" strike="noStrike" cap="none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321"/>
              </a:buClr>
              <a:buSzPts val="1200"/>
              <a:buFont typeface="Times New Roman" panose="02020603050405020304"/>
              <a:buNone/>
            </a:pPr>
            <a:r>
              <a:rPr lang="en-GB" sz="1200" b="1" i="0" u="none" strike="noStrike" cap="none" dirty="0">
                <a:solidFill>
                  <a:srgbClr val="5463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PERUNDURAI ERODE-638060</a:t>
            </a:r>
            <a:endParaRPr sz="105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 panose="02020603050405020304"/>
              <a:buNone/>
            </a:pPr>
            <a:r>
              <a:rPr lang="en-GB" sz="2400" b="1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COMPUTER SCIENCE &amp; ENGINEERING</a:t>
            </a:r>
            <a:endParaRPr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ctr">
              <a:spcBef>
                <a:spcPts val="600"/>
              </a:spcBef>
              <a:buClr>
                <a:srgbClr val="FF0000"/>
              </a:buClr>
              <a:buSzPts val="1800"/>
            </a:pPr>
            <a:endParaRPr sz="1800" b="1" i="0" u="none" strike="noStrike" cap="none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buClr>
                <a:srgbClr val="FF0000"/>
              </a:buClr>
              <a:buSzPts val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sz="1800" b="1" dirty="0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136" name="Google Shape;136;p2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-62230"/>
            <a:ext cx="781685" cy="953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6" descr="G:\TBI\TBI@KEC Logos\K Transform\6-5x4 product centre.jpg"/>
          <p:cNvPicPr preferRelativeResize="0"/>
          <p:nvPr/>
        </p:nvPicPr>
        <p:blipFill rotWithShape="1">
          <a:blip r:embed="rId5"/>
          <a:srcRect l="4960"/>
          <a:stretch>
            <a:fillRect/>
          </a:stretch>
        </p:blipFill>
        <p:spPr>
          <a:xfrm>
            <a:off x="781685" y="808990"/>
            <a:ext cx="1423670" cy="97726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1837690" y="2036445"/>
            <a:ext cx="600075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IN" altLang="en-US" sz="1600" b="1" dirty="0">
                <a:sym typeface="+mn-ea"/>
              </a:rPr>
              <a:t>PROJECT TITLE: </a:t>
            </a:r>
            <a:r>
              <a:rPr lang="en-IN" altLang="en-US" sz="1600" dirty="0">
                <a:sym typeface="+mn-ea"/>
              </a:rPr>
              <a:t>  </a:t>
            </a:r>
            <a:r>
              <a:rPr lang="en-IN" altLang="en-US" sz="1600" b="1" dirty="0"/>
              <a:t>A Resource Efficient Transfer Learning 		Framework For Real Time Driver 			Distraction detection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964690" y="3362325"/>
            <a:ext cx="6000750" cy="1524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IN" altLang="en-US" sz="1600" b="1" dirty="0"/>
              <a:t>    TEAM : B20</a:t>
            </a:r>
          </a:p>
          <a:p>
            <a:pPr marL="0"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IN" altLang="en-US" sz="1600" b="1" dirty="0"/>
              <a:t>         HARI KIRUTHIK G R (23CSR071</a:t>
            </a:r>
          </a:p>
          <a:p>
            <a:pPr marL="0"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IN" altLang="en-US" sz="1600" b="1" dirty="0"/>
              <a:t>         JAYARAJ M (23CSR090)</a:t>
            </a:r>
          </a:p>
          <a:p>
            <a:pPr marL="0"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IN" altLang="en-US" sz="1600" b="1" dirty="0"/>
              <a:t>         KIRUTHICK B (23CSR112)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5D00175A-F062-3274-8210-F28D1477964A}"/>
              </a:ext>
            </a:extLst>
          </p:cNvPr>
          <p:cNvSpPr txBox="1"/>
          <p:nvPr/>
        </p:nvSpPr>
        <p:spPr>
          <a:xfrm>
            <a:off x="5880174" y="3784263"/>
            <a:ext cx="60007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IN" altLang="en-US" sz="1600" b="1" dirty="0"/>
              <a:t>    Mentor</a:t>
            </a:r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1600" b="1" dirty="0"/>
              <a:t>         R.S. </a:t>
            </a:r>
            <a:r>
              <a:rPr lang="en-IN" altLang="en-US" sz="1600" b="1" dirty="0" err="1"/>
              <a:t>Shudapreyaa</a:t>
            </a:r>
            <a:endParaRPr lang="en-IN" altLang="en-US" sz="1600" b="1" dirty="0"/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1600" b="1" dirty="0"/>
              <a:t>         Assistant Professor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655955" y="1023620"/>
            <a:ext cx="8343265" cy="3750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IN" sz="1400" dirty="0"/>
              <a:t>Driver distraction is a leading cause of road accidents, however existing AI-based driver monitoring systems requires high-end GPUs, making them unsuitable for real-time distraction detection in a  resource constrained environment due to the limited memory and processing power available.</a:t>
            </a:r>
            <a:endParaRPr lang="en-US" altLang="en-US" sz="1400" dirty="0"/>
          </a:p>
        </p:txBody>
      </p:sp>
      <p:pic>
        <p:nvPicPr>
          <p:cNvPr id="146" name="Google Shape;146;p27" descr="kec2blackborder png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655955" cy="6013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17905" y="391795"/>
            <a:ext cx="4170045" cy="483870"/>
          </a:xfrm>
        </p:spPr>
        <p:txBody>
          <a:bodyPr/>
          <a:lstStyle/>
          <a:p>
            <a:pPr marL="0" indent="0"/>
            <a:r>
              <a:rPr lang="en-US" sz="1800" b="1" dirty="0">
                <a:solidFill>
                  <a:srgbClr val="0070C0"/>
                </a:solidFill>
              </a:rPr>
              <a:t> </a:t>
            </a:r>
            <a:br>
              <a:rPr lang="en-US" sz="1800" b="1" dirty="0"/>
            </a:br>
            <a:br>
              <a:rPr lang="en-US" sz="1800" dirty="0"/>
            </a:br>
            <a:r>
              <a:rPr lang="en-US" sz="1800" b="1" dirty="0">
                <a:solidFill>
                  <a:srgbClr val="0070C0"/>
                </a:solidFill>
              </a:rPr>
              <a:t>Problem statement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195" y="414020"/>
            <a:ext cx="4870450" cy="857250"/>
          </a:xfrm>
        </p:spPr>
        <p:txBody>
          <a:bodyPr/>
          <a:lstStyle/>
          <a:p>
            <a:r>
              <a:rPr lang="en-US" altLang="en-US">
                <a:sym typeface="+mn-ea"/>
              </a:rPr>
              <a:t>Objectives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7055" y="1451610"/>
            <a:ext cx="7840965" cy="2853690"/>
          </a:xfrm>
        </p:spPr>
        <p:txBody>
          <a:bodyPr/>
          <a:lstStyle/>
          <a:p>
            <a:pPr marL="137160" indent="0">
              <a:lnSpc>
                <a:spcPct val="150000"/>
              </a:lnSpc>
              <a:buNone/>
            </a:pPr>
            <a:r>
              <a:rPr lang="en-IN" sz="1400" dirty="0"/>
              <a:t>Design and deploy a </a:t>
            </a:r>
            <a:r>
              <a:rPr lang="en-IN" sz="1400" dirty="0" err="1"/>
              <a:t>TinyML</a:t>
            </a:r>
            <a:r>
              <a:rPr lang="en-IN" sz="1400" dirty="0"/>
              <a:t>-based driver distraction detection system on the resource constrained system using TensorFlow Lite Micro with reduced input sizes and Optimize memory consumption and inference latency to achieve real-time edge inference without high-end GPUs.</a:t>
            </a:r>
            <a:endParaRPr lang="en-US" alt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839" b="8835"/>
          <a:stretch>
            <a:fillRect/>
          </a:stretch>
        </p:blipFill>
        <p:spPr>
          <a:xfrm rot="17580000">
            <a:off x="1447800" y="3649980"/>
            <a:ext cx="542290" cy="17887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1839" b="8835"/>
          <a:stretch>
            <a:fillRect/>
          </a:stretch>
        </p:blipFill>
        <p:spPr>
          <a:xfrm rot="7020000">
            <a:off x="7378065" y="-222250"/>
            <a:ext cx="542290" cy="1788795"/>
          </a:xfrm>
          <a:prstGeom prst="rect">
            <a:avLst/>
          </a:prstGeom>
        </p:spPr>
      </p:pic>
      <p:pic>
        <p:nvPicPr>
          <p:cNvPr id="146" name="Google Shape;146;p27" descr="kec2blackborder png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655955" cy="601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 descr="kec2blackborder png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655955" cy="60134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14F137-F11D-0CDF-AFA2-DFCF1C81B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589621"/>
              </p:ext>
            </p:extLst>
          </p:nvPr>
        </p:nvGraphicFramePr>
        <p:xfrm>
          <a:off x="655955" y="528320"/>
          <a:ext cx="8396275" cy="455369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27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2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19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5555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000" dirty="0"/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0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0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000" dirty="0"/>
                        <a:t>Method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000"/>
                        <a:t>Dataset /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0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000"/>
                        <a:t>Latency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99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Springer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Tiny deep learning models for real-time and efficient embedded driver state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Efficient-Tiny, MCUNet, Micro-</a:t>
                      </a:r>
                      <a:r>
                        <a:rPr sz="700" dirty="0" err="1"/>
                        <a:t>MobileNet</a:t>
                      </a:r>
                      <a:r>
                        <a:rPr sz="700" dirty="0"/>
                        <a:t>, SqueezeNetv11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 err="1"/>
                        <a:t>StateFarm</a:t>
                      </a:r>
                      <a:r>
                        <a:rPr lang="en-US" sz="700" dirty="0"/>
                        <a:t> / no external hardware 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95.81%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28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7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Springer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USH: an efficient real-time distracted driving detection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USH (lightweight hybrid CNN + Single-Head Self-Attention)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 err="1"/>
                        <a:t>StateFarm</a:t>
                      </a:r>
                      <a:r>
                        <a:rPr lang="en-US" sz="700" dirty="0"/>
                        <a:t> / NVIDIA RTX3060Ti  16 GB RAM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9</a:t>
                      </a:r>
                      <a:r>
                        <a:rPr lang="en-US" sz="700" dirty="0"/>
                        <a:t>6</a:t>
                      </a:r>
                      <a:r>
                        <a:rPr sz="700" dirty="0"/>
                        <a:t>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4.7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3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Springer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FAN-YOLO: Real-time driver behavior detection based on full-layer aggregation network of YOLO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FAN-YOLO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State Farm v2, </a:t>
                      </a:r>
                      <a:r>
                        <a:rPr sz="700" dirty="0" err="1"/>
                        <a:t>YawDD</a:t>
                      </a:r>
                      <a:r>
                        <a:rPr sz="700" dirty="0"/>
                        <a:t> v2</a:t>
                      </a:r>
                      <a:r>
                        <a:rPr lang="en-US" sz="700" dirty="0"/>
                        <a:t> /</a:t>
                      </a:r>
                    </a:p>
                    <a:p>
                      <a:pPr>
                        <a:defRPr sz="900"/>
                      </a:pPr>
                      <a:r>
                        <a:rPr lang="en-IN" sz="700" dirty="0"/>
                        <a:t>NVIDIA 4090, 80 GB memory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AP50: 86.8% /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1.9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99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IEEE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Research on Transfer Learning-Based Framework for Real-Time Driver Distraction Detection on Edge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VGG16 Transfer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State Farm; Docker</a:t>
                      </a:r>
                      <a:r>
                        <a:rPr lang="en-US" sz="700" dirty="0"/>
                        <a:t>/</a:t>
                      </a:r>
                    </a:p>
                    <a:p>
                      <a:pPr>
                        <a:defRPr sz="900"/>
                      </a:pPr>
                      <a:r>
                        <a:rPr lang="en-US" sz="700" dirty="0"/>
                        <a:t>Intel i7, Nvidia 1060 16 GB ram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95.54% validation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&gt;150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99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Integrated Deep Learning Framework for Driver Distraction Detection and Real-Time Road Object Recognition in 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CNN + YOLO + </a:t>
                      </a:r>
                      <a:r>
                        <a:rPr sz="700" dirty="0" err="1"/>
                        <a:t>TensorRT</a:t>
                      </a:r>
                      <a:r>
                        <a:rPr sz="700" dirty="0"/>
                        <a:t> INT8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State Farm + KITTI + MS COCO, NVIDIA Jetson Xavier 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0.915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39 </a:t>
                      </a:r>
                      <a:r>
                        <a:rPr sz="700" dirty="0" err="1"/>
                        <a:t>ms</a:t>
                      </a:r>
                      <a:endParaRPr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30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Elsevier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An Efficient Temporal Attention Framework for Real-Time Detection of Unsafe Driver Behaviors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ATFE (Attention-Guided Temporal Feature Extraction)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Benchmark driver behavior datasets</a:t>
                      </a:r>
                      <a:r>
                        <a:rPr lang="en-US" sz="700" dirty="0"/>
                        <a:t> 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12.8 </a:t>
                      </a:r>
                      <a:r>
                        <a:rPr sz="700" dirty="0" err="1"/>
                        <a:t>ms</a:t>
                      </a:r>
                      <a:endParaRPr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635256"/>
                  </a:ext>
                </a:extLst>
              </a:tr>
              <a:tr h="3807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ASCE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Real-Time Distracted Driving Detection Based on GM-YOLOv8 on Embedded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GM-YOLOv8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Driver distraction dataset/ NVIDIA Jetson AGX Orin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0.978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33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113158"/>
                  </a:ext>
                </a:extLst>
              </a:tr>
              <a:tr h="46499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IEICE Transactions on Information and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YOLOv10n-BC: A Novel Real-Time Object Detection Model for Driver Distracted Driving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YOLOv10n + BiFPN + CASSA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CBTDDD Dataset/ NVIDIA RTX 4090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mAP@0.5 improved by 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115.3 FPS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30577"/>
                  </a:ext>
                </a:extLst>
              </a:tr>
              <a:tr h="464999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Elsevier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A Lightweight Model for Distracted Driver Detection Based on Neural Architecture Search and Coordinate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CCNET (Neural Architecture Search + Coordinate Attention)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State Farm, AUC Distracted Driver/ NVIDIA Jetson Nano 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0.9552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54 FPS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819460"/>
                  </a:ext>
                </a:extLst>
              </a:tr>
              <a:tr h="3807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IEEE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Deep Learning-Based Real-Time Driver Cognitive Distraction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Temporal Deep Learning Network (CNN + Temporal Modeling)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Driver cognitive distraction datasets/ NVIDIA RTX 3090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/>
                        <a:t>0.974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700" dirty="0"/>
                        <a:t>22 </a:t>
                      </a:r>
                      <a:r>
                        <a:rPr sz="700" dirty="0" err="1"/>
                        <a:t>ms</a:t>
                      </a:r>
                      <a:endParaRPr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760408"/>
                  </a:ext>
                </a:extLst>
              </a:tr>
            </a:tbl>
          </a:graphicData>
        </a:graphic>
      </p:graphicFrame>
      <p:sp>
        <p:nvSpPr>
          <p:cNvPr id="9" name="Title 3">
            <a:extLst>
              <a:ext uri="{FF2B5EF4-FFF2-40B4-BE49-F238E27FC236}">
                <a16:creationId xmlns:a16="http://schemas.microsoft.com/office/drawing/2014/main" id="{4428CAF1-6772-FAA2-0CCC-5D2B807E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995" y="-77470"/>
            <a:ext cx="3477895" cy="483870"/>
          </a:xfrm>
        </p:spPr>
        <p:txBody>
          <a:bodyPr/>
          <a:lstStyle/>
          <a:p>
            <a:pPr marL="0" indent="0"/>
            <a:r>
              <a:rPr lang="en-US" sz="1800" b="1" dirty="0">
                <a:solidFill>
                  <a:srgbClr val="0070C0"/>
                </a:solidFill>
              </a:rPr>
              <a:t>Literature Survey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889635" y="1097597"/>
            <a:ext cx="6560820" cy="29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Limited deployment on resource-constrained edge devices, most studies target GPUs or high-performance embedded platforms.</a:t>
            </a:r>
            <a:endParaRPr lang="en-US" alt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Knowledge distillation, quantization, and </a:t>
            </a:r>
            <a:r>
              <a:rPr lang="en-US" sz="1400" dirty="0" err="1"/>
              <a:t>TensorFlowLite</a:t>
            </a:r>
            <a:r>
              <a:rPr lang="en-US" sz="1400" dirty="0"/>
              <a:t> Micro are rarely integrated into a unified </a:t>
            </a:r>
            <a:r>
              <a:rPr lang="en-US" sz="1400" dirty="0" err="1"/>
              <a:t>TinyML</a:t>
            </a:r>
            <a:r>
              <a:rPr lang="en-US" sz="1400" dirty="0"/>
              <a:t> pipeline</a:t>
            </a:r>
            <a:r>
              <a:rPr lang="en-US" altLang="en-US" sz="1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400" dirty="0"/>
              <a:t>Existing work emphasizes accuracy/FPS but provides limited analysis of runtime memory, tensor arena, and memory–accuracy trade-offs</a:t>
            </a:r>
            <a:r>
              <a:rPr lang="en-US" altLang="en-US" sz="1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400" dirty="0"/>
              <a:t>Few studies compare different input resolutions and optimized models to identify the most efficient configuration for real-time edge inference</a:t>
            </a:r>
            <a:r>
              <a:rPr lang="en-US" altLang="en-US" sz="1400" dirty="0"/>
              <a:t>s.</a:t>
            </a:r>
          </a:p>
        </p:txBody>
      </p:sp>
      <p:pic>
        <p:nvPicPr>
          <p:cNvPr id="146" name="Google Shape;146;p27" descr="kec2blackborder png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655955" cy="6343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89635" y="446405"/>
            <a:ext cx="3477895" cy="483870"/>
          </a:xfrm>
        </p:spPr>
        <p:txBody>
          <a:bodyPr/>
          <a:lstStyle/>
          <a:p>
            <a:pPr marL="0" indent="0"/>
            <a:r>
              <a:rPr lang="en-US" sz="2400" b="1" dirty="0">
                <a:solidFill>
                  <a:srgbClr val="0070C0"/>
                </a:solidFill>
              </a:rPr>
              <a:t>Research Gap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 l="1839" b="8835"/>
          <a:stretch>
            <a:fillRect/>
          </a:stretch>
        </p:blipFill>
        <p:spPr>
          <a:xfrm rot="14100000">
            <a:off x="7985125" y="-159385"/>
            <a:ext cx="542290" cy="17887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rcRect l="1839" b="8835"/>
          <a:stretch>
            <a:fillRect/>
          </a:stretch>
        </p:blipFill>
        <p:spPr>
          <a:xfrm rot="20040000">
            <a:off x="7581265" y="3326765"/>
            <a:ext cx="542290" cy="1788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414655" y="1023620"/>
            <a:ext cx="5266055" cy="3426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 lnSpcReduction="10000"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400" dirty="0"/>
              <a:t>Proposes a teacher–student knowledge distillation framework for compact </a:t>
            </a:r>
            <a:r>
              <a:rPr lang="en-US" sz="1400" dirty="0" err="1"/>
              <a:t>TinyML</a:t>
            </a:r>
            <a:r>
              <a:rPr lang="en-US" sz="1400" dirty="0"/>
              <a:t> models </a:t>
            </a:r>
            <a:r>
              <a:rPr lang="en-US" altLang="en-US" sz="1400" dirty="0"/>
              <a:t>Runs entirely on the ESP32 microcontroller without cloud support.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400" dirty="0"/>
              <a:t>Combine lightweight CNNs, INT8 quantization, and TensorFlow Lite Micro for efficient embedded inference.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400" dirty="0"/>
              <a:t>Reducing the model size allocating minimum required tensor arena, and runtime memory in the chip’s SRAM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400" dirty="0"/>
              <a:t>Real-time deployment on resource-constrained microcontroller-based edge devices without high-end GPUs</a:t>
            </a:r>
            <a:endParaRPr lang="en-US" altLang="en-US" sz="1400" dirty="0"/>
          </a:p>
        </p:txBody>
      </p:sp>
      <p:pic>
        <p:nvPicPr>
          <p:cNvPr id="146" name="Google Shape;146;p27" descr="kec2blackborder png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701675" cy="6343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65200" y="474345"/>
            <a:ext cx="3359150" cy="483870"/>
          </a:xfrm>
        </p:spPr>
        <p:txBody>
          <a:bodyPr/>
          <a:lstStyle/>
          <a:p>
            <a:pPr marL="0" indent="0"/>
            <a:r>
              <a:rPr lang="en-IN" sz="1800" b="1" dirty="0"/>
              <a:t>Proposed Solution</a:t>
            </a:r>
            <a:endParaRPr lang="en-US" sz="1800" b="1" dirty="0"/>
          </a:p>
        </p:txBody>
      </p:sp>
      <p:pic>
        <p:nvPicPr>
          <p:cNvPr id="2" name="Picture 1"/>
          <p:cNvPicPr/>
          <p:nvPr/>
        </p:nvPicPr>
        <p:blipFill>
          <a:blip r:embed="rId4"/>
          <a:stretch>
            <a:fillRect/>
          </a:stretch>
        </p:blipFill>
        <p:spPr>
          <a:xfrm>
            <a:off x="5796280" y="0"/>
            <a:ext cx="334772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78FD0CC0-A79A-C4DC-25F2-40AB5F58A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 descr="kec2blackborder png.PNG">
            <a:extLst>
              <a:ext uri="{FF2B5EF4-FFF2-40B4-BE49-F238E27FC236}">
                <a16:creationId xmlns:a16="http://schemas.microsoft.com/office/drawing/2014/main" id="{567556F1-ED92-DF27-FF2B-3D838B1E985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701675" cy="63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43F932-F243-9403-BE93-7B569130A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988" y="634365"/>
            <a:ext cx="7528699" cy="4106563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BBC7F92D-994D-B57F-85C3-FB57D21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224" y="75247"/>
            <a:ext cx="1488069" cy="483870"/>
          </a:xfrm>
        </p:spPr>
        <p:txBody>
          <a:bodyPr/>
          <a:lstStyle/>
          <a:p>
            <a:pPr marL="0" indent="0"/>
            <a:r>
              <a:rPr lang="en-US" sz="1800" b="1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397254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030" y="53190"/>
            <a:ext cx="8661654" cy="34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rPr sz="1650"/>
              <a:t>Knowledge Distillation Architecture: Teacher to TinyML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8610" y="356123"/>
            <a:ext cx="8503920" cy="2135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B5563"/>
                </a:solidFill>
              </a:defRPr>
            </a:pPr>
            <a:r>
              <a:rPr sz="788"/>
              <a:t>Objective: compress high-capacity driver-distraction teachers into a microcontroller-ready INT8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862" y="627014"/>
            <a:ext cx="2060467" cy="2423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rPr sz="975"/>
              <a:t>Teacher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4590" y="627014"/>
            <a:ext cx="2484680" cy="2423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rPr sz="975"/>
              <a:t>Distillation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62629" y="627014"/>
            <a:ext cx="2636185" cy="2423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rPr sz="975"/>
              <a:t>Student Model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968" y="973184"/>
            <a:ext cx="2151370" cy="682905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825"/>
              <a:t>High-capacity teacher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sz="630"/>
              <a:t>TFLite teacher candidates</a:t>
            </a:r>
            <a:br>
              <a:rPr sz="630"/>
            </a:br>
            <a:r>
              <a:rPr sz="630"/>
              <a:t>MobileNetV3 Small / EfficientNetB0</a:t>
            </a:r>
            <a:br>
              <a:rPr sz="630"/>
            </a:br>
            <a:r>
              <a:rPr sz="630"/>
              <a:t>ResNet50 / ConvNeXt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8756" y="1863592"/>
            <a:ext cx="1708976" cy="495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825"/>
              <a:t>Teacher input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sz="630"/>
              <a:t>224 x 224 x 3 RGB</a:t>
            </a:r>
            <a:br>
              <a:rPr sz="630"/>
            </a:br>
            <a:r>
              <a:rPr sz="630"/>
              <a:t>ImageNet-style preprocessing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8756" y="2619757"/>
            <a:ext cx="1708976" cy="543907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825" dirty="0"/>
              <a:t>Soft labels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sz="630" dirty="0"/>
              <a:t>Teacher outputs 10-class probability vector</a:t>
            </a:r>
            <a:br>
              <a:rPr sz="630" dirty="0"/>
            </a:br>
            <a:r>
              <a:rPr sz="630" dirty="0"/>
              <a:t>Stored as cached .</a:t>
            </a:r>
            <a:r>
              <a:rPr sz="630" dirty="0" err="1"/>
              <a:t>npy</a:t>
            </a:r>
            <a:r>
              <a:rPr sz="630" dirty="0"/>
              <a:t> files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1453896" y="1656089"/>
            <a:ext cx="0" cy="20750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>
            <a:off x="1453896" y="2378702"/>
            <a:ext cx="0" cy="193048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9072" y="992626"/>
            <a:ext cx="1151437" cy="49556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lang="en-IN" sz="825" b="1" dirty="0"/>
              <a:t>Depth wise-separable CNN</a:t>
            </a:r>
            <a:endParaRPr lang="en-IN" sz="825" dirty="0"/>
          </a:p>
        </p:txBody>
      </p:sp>
      <p:sp>
        <p:nvSpPr>
          <p:cNvPr id="13" name="Rounded Rectangle 12"/>
          <p:cNvSpPr/>
          <p:nvPr/>
        </p:nvSpPr>
        <p:spPr>
          <a:xfrm>
            <a:off x="4369252" y="992625"/>
            <a:ext cx="1151437" cy="552267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lang="en-IN" sz="825" b="1" dirty="0"/>
              <a:t>response-based knowledge distillation</a:t>
            </a:r>
            <a:endParaRPr sz="825" dirty="0"/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sz="630" dirty="0"/>
              <a:t>KL divergence</a:t>
            </a:r>
            <a:br>
              <a:rPr sz="630" dirty="0"/>
            </a:br>
            <a:r>
              <a:rPr sz="630" dirty="0"/>
              <a:t>with temperature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4481" y="1830248"/>
            <a:ext cx="2060467" cy="60434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200" dirty="0"/>
              <a:t>Combined distillation loss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sz="788" dirty="0"/>
              <a:t>Loss = alpha * CE(hard labels)</a:t>
            </a:r>
            <a:br>
              <a:rPr sz="788" dirty="0"/>
            </a:br>
            <a:r>
              <a:rPr sz="788" dirty="0"/>
              <a:t>+ (1 - alpha) * KL(teacher || student) * T^2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4481" y="2727700"/>
            <a:ext cx="2060467" cy="49556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825"/>
              <a:t>Caching strategy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sz="630"/>
              <a:t>Teacher probabilities cached once</a:t>
            </a:r>
            <a:br>
              <a:rPr sz="630"/>
            </a:br>
            <a:r>
              <a:rPr sz="630"/>
              <a:t>then reused every student epoch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3464901" y="1519140"/>
            <a:ext cx="326514" cy="277656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stCxn id="13" idx="2"/>
          </p:cNvCxnSpPr>
          <p:nvPr/>
        </p:nvCxnSpPr>
        <p:spPr>
          <a:xfrm flipH="1">
            <a:off x="4467922" y="1544892"/>
            <a:ext cx="477049" cy="285355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</p:cNvCxnSpPr>
          <p:nvPr/>
        </p:nvCxnSpPr>
        <p:spPr>
          <a:xfrm>
            <a:off x="4149090" y="2461471"/>
            <a:ext cx="0" cy="256874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50031" y="942782"/>
            <a:ext cx="2696788" cy="63455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825"/>
              <a:t>Tiny depthwise-separable CNN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sz="630"/>
              <a:t>Input: 96 x 96 x 3 RGB</a:t>
            </a:r>
            <a:br>
              <a:rPr sz="630"/>
            </a:br>
            <a:r>
              <a:rPr sz="630"/>
              <a:t>Width multiplier: 10</a:t>
            </a:r>
            <a:br>
              <a:rPr sz="630"/>
            </a:br>
            <a:r>
              <a:rPr sz="630"/>
              <a:t>Output: 10 logits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0031" y="1843888"/>
            <a:ext cx="2696788" cy="8581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825"/>
              <a:t>Layer changes for MCU deployment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sz="630"/>
              <a:t>Conv2D(10, 3x3) + MaxPool</a:t>
            </a:r>
            <a:br>
              <a:rPr sz="630"/>
            </a:br>
            <a:r>
              <a:rPr sz="630"/>
              <a:t>[DepthwiseConv2D + 1x1 Conv + MaxPool] x3</a:t>
            </a:r>
            <a:br>
              <a:rPr sz="630"/>
            </a:br>
            <a:r>
              <a:rPr sz="630"/>
              <a:t>DepthwiseConv2D + 1x1 Conv(50)</a:t>
            </a:r>
            <a:br>
              <a:rPr sz="630"/>
            </a:br>
            <a:r>
              <a:rPr sz="630"/>
              <a:t>GlobalAveragePooling + Dropout(0.2) + Dense(10)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0031" y="2906007"/>
            <a:ext cx="2696788" cy="495560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825"/>
              <a:t>Deployment conversion</a:t>
            </a:r>
          </a:p>
          <a:p>
            <a:pPr algn="ctr">
              <a:defRPr sz="840">
                <a:solidFill>
                  <a:srgbClr val="111827"/>
                </a:solidFill>
              </a:defRPr>
            </a:pPr>
            <a:r>
              <a:rPr sz="630"/>
              <a:t>Full INT8 TFLite conversion</a:t>
            </a:r>
            <a:br>
              <a:rPr sz="630"/>
            </a:br>
            <a:r>
              <a:rPr sz="630"/>
              <a:t>Representative dataset: first 400 train images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>
            <a:off x="7317486" y="1595261"/>
            <a:ext cx="0" cy="132955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</p:cNvCxnSpPr>
          <p:nvPr/>
        </p:nvCxnSpPr>
        <p:spPr>
          <a:xfrm>
            <a:off x="7317486" y="2718345"/>
            <a:ext cx="0" cy="21525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stCxn id="9" idx="3"/>
            <a:endCxn id="15" idx="1"/>
          </p:cNvCxnSpPr>
          <p:nvPr/>
        </p:nvCxnSpPr>
        <p:spPr>
          <a:xfrm>
            <a:off x="2427732" y="2891711"/>
            <a:ext cx="826749" cy="83769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>
            <a:off x="5314948" y="2136296"/>
            <a:ext cx="835083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49072"/>
              </p:ext>
            </p:extLst>
          </p:nvPr>
        </p:nvGraphicFramePr>
        <p:xfrm>
          <a:off x="579862" y="3524435"/>
          <a:ext cx="8564138" cy="1366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2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447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 marL="68580" marR="68580" marT="34290" marB="3429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Value Used</a:t>
                      </a:r>
                    </a:p>
                  </a:txBody>
                  <a:tcPr marL="68580" marR="68580" marT="34290" marB="3429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</a:rPr>
                        <a:t>Why it was used</a:t>
                      </a:r>
                    </a:p>
                  </a:txBody>
                  <a:tcPr marL="68580" marR="68580" marT="34290" marB="34290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0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111827"/>
                          </a:solidFill>
                        </a:rPr>
                        <a:t>Temperature T</a:t>
                      </a:r>
                    </a:p>
                  </a:txBody>
                  <a:tcPr marL="27432" marR="27432" marT="6858" marB="68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11827"/>
                          </a:solidFill>
                        </a:rPr>
                        <a:t>4.0</a:t>
                      </a:r>
                    </a:p>
                  </a:txBody>
                  <a:tcPr marL="27432" marR="27432" marT="6858" marB="68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Softens teacher probabilities so class similarity knowledge is transferred</a:t>
                      </a:r>
                    </a:p>
                  </a:txBody>
                  <a:tcPr marL="27432" marR="27432" marT="6858" marB="685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90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111827"/>
                          </a:solidFill>
                        </a:rPr>
                        <a:t>Alpha</a:t>
                      </a:r>
                    </a:p>
                  </a:txBody>
                  <a:tcPr marL="27432" marR="27432" marT="6858" marB="685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11827"/>
                          </a:solidFill>
                        </a:rPr>
                        <a:t>0.45</a:t>
                      </a:r>
                    </a:p>
                  </a:txBody>
                  <a:tcPr marL="27432" marR="27432" marT="6858" marB="685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111827"/>
                          </a:solidFill>
                        </a:rPr>
                        <a:t>Balances true label CE with teacher KL loss</a:t>
                      </a:r>
                    </a:p>
                  </a:txBody>
                  <a:tcPr marL="27432" marR="27432" marT="6858" marB="685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90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111827"/>
                          </a:solidFill>
                        </a:rPr>
                        <a:t>Batch size</a:t>
                      </a:r>
                    </a:p>
                  </a:txBody>
                  <a:tcPr marL="27432" marR="27432" marT="6858" marB="68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11827"/>
                          </a:solidFill>
                        </a:rPr>
                        <a:t>32</a:t>
                      </a:r>
                    </a:p>
                  </a:txBody>
                  <a:tcPr marL="27432" marR="27432" marT="6858" marB="68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111827"/>
                          </a:solidFill>
                        </a:rPr>
                        <a:t>Stable training on laptop while keeping memory manageable</a:t>
                      </a:r>
                    </a:p>
                  </a:txBody>
                  <a:tcPr marL="27432" marR="27432" marT="6858" marB="685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90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11827"/>
                          </a:solidFill>
                        </a:rPr>
                        <a:t>Epochs</a:t>
                      </a:r>
                    </a:p>
                  </a:txBody>
                  <a:tcPr marL="27432" marR="27432" marT="6858" marB="685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11827"/>
                          </a:solidFill>
                        </a:rPr>
                        <a:t>60</a:t>
                      </a:r>
                    </a:p>
                  </a:txBody>
                  <a:tcPr marL="27432" marR="27432" marT="6858" marB="685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111827"/>
                          </a:solidFill>
                        </a:rPr>
                        <a:t>Allows student to converge; early stopping prevents overtraining</a:t>
                      </a:r>
                    </a:p>
                  </a:txBody>
                  <a:tcPr marL="27432" marR="27432" marT="6858" marB="685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90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11827"/>
                          </a:solidFill>
                        </a:rPr>
                        <a:t>Learning rate</a:t>
                      </a:r>
                    </a:p>
                  </a:txBody>
                  <a:tcPr marL="27432" marR="27432" marT="6858" marB="68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11827"/>
                          </a:solidFill>
                        </a:rPr>
                        <a:t>1e-3 Adam</a:t>
                      </a:r>
                    </a:p>
                  </a:txBody>
                  <a:tcPr marL="27432" marR="27432" marT="6858" marB="68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111827"/>
                          </a:solidFill>
                        </a:rPr>
                        <a:t>Fast training for small CNN student</a:t>
                      </a:r>
                    </a:p>
                  </a:txBody>
                  <a:tcPr marL="27432" marR="27432" marT="6858" marB="685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907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11827"/>
                          </a:solidFill>
                        </a:rPr>
                        <a:t>Validation split</a:t>
                      </a:r>
                    </a:p>
                  </a:txBody>
                  <a:tcPr marL="27432" marR="27432" marT="6858" marB="685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11827"/>
                          </a:solidFill>
                        </a:rPr>
                        <a:t>20% driver-wise</a:t>
                      </a:r>
                    </a:p>
                  </a:txBody>
                  <a:tcPr marL="27432" marR="27432" marT="6858" marB="685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111827"/>
                          </a:solidFill>
                        </a:rPr>
                        <a:t>Avoids same-driver leakage between train and validation</a:t>
                      </a:r>
                    </a:p>
                  </a:txBody>
                  <a:tcPr marL="27432" marR="27432" marT="6858" marB="685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1" y="4891304"/>
            <a:ext cx="9143771" cy="28803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88" dirty="0"/>
              <a:t>Distillation type used: Response-based knowledge distillation from teacher soft probabilities + supervised hard-label learning, followed by INT8 quantization for ESP32/RP2040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205" y="548005"/>
            <a:ext cx="2371090" cy="433070"/>
          </a:xfrm>
        </p:spPr>
        <p:txBody>
          <a:bodyPr/>
          <a:lstStyle/>
          <a:p>
            <a:r>
              <a:rPr lang="en-IN" altLang="en-US" sz="2400" b="1" dirty="0"/>
              <a:t>flow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200150" y="1220470"/>
            <a:ext cx="2250440" cy="33239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dirty="0"/>
              <a:t>Driver Image</a:t>
            </a:r>
          </a:p>
          <a:p>
            <a:r>
              <a:rPr lang="en-US" altLang="en-US" dirty="0"/>
              <a:t>      ↓</a:t>
            </a:r>
          </a:p>
          <a:p>
            <a:r>
              <a:rPr lang="en-US" altLang="en-US" dirty="0"/>
              <a:t>Image stored in Flash</a:t>
            </a:r>
          </a:p>
          <a:p>
            <a:r>
              <a:rPr lang="en-US" altLang="en-US" dirty="0"/>
              <a:t>      ↓</a:t>
            </a:r>
          </a:p>
          <a:p>
            <a:r>
              <a:rPr lang="en-US" altLang="en-US" dirty="0"/>
              <a:t>Model boot on Flash</a:t>
            </a:r>
          </a:p>
          <a:p>
            <a:r>
              <a:rPr lang="en-US" altLang="en-US" dirty="0"/>
              <a:t>      ↓</a:t>
            </a:r>
          </a:p>
          <a:p>
            <a:r>
              <a:rPr lang="en-US" altLang="en-US" dirty="0"/>
              <a:t>allocating Tensor Arena</a:t>
            </a:r>
          </a:p>
          <a:p>
            <a:r>
              <a:rPr lang="en-US" altLang="en-US" dirty="0"/>
              <a:t>      </a:t>
            </a:r>
          </a:p>
          <a:p>
            <a:endParaRPr lang="en-US" altLang="en-US" dirty="0"/>
          </a:p>
          <a:p>
            <a:r>
              <a:rPr lang="en-US" altLang="en-US" dirty="0"/>
              <a:t>      </a:t>
            </a:r>
          </a:p>
          <a:p>
            <a:r>
              <a:rPr lang="en-US" altLang="en-US" dirty="0"/>
              <a:t>ESP32 Inference</a:t>
            </a:r>
          </a:p>
          <a:p>
            <a:r>
              <a:rPr lang="en-US" altLang="en-US" dirty="0"/>
              <a:t>      ↓</a:t>
            </a:r>
          </a:p>
          <a:p>
            <a:r>
              <a:rPr lang="en-US" altLang="en-US" dirty="0"/>
              <a:t>Safe Driving / Distracted</a:t>
            </a:r>
          </a:p>
          <a:p>
            <a:r>
              <a:rPr lang="en-US" altLang="en-US" dirty="0"/>
              <a:t>      ↓</a:t>
            </a:r>
          </a:p>
          <a:p>
            <a:r>
              <a:rPr lang="en-US" altLang="en-US" dirty="0"/>
              <a:t>LED Indication</a:t>
            </a:r>
            <a:endParaRPr lang="en-US" dirty="0"/>
          </a:p>
        </p:txBody>
      </p:sp>
      <p:sp>
        <p:nvSpPr>
          <p:cNvPr id="6" name="Text Box 5"/>
          <p:cNvSpPr txBox="1"/>
          <p:nvPr/>
        </p:nvSpPr>
        <p:spPr>
          <a:xfrm>
            <a:off x="4902835" y="1153795"/>
            <a:ext cx="3155950" cy="2353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 Transfer Learning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 TensorFlow Lite Micro 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 INT8 Quantization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 Tensor Arena Optimization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 </a:t>
            </a:r>
            <a:r>
              <a:rPr lang="en-US" altLang="zh-CN" dirty="0" err="1"/>
              <a:t>PlatformIO</a:t>
            </a:r>
            <a:r>
              <a:rPr lang="en-US" altLang="zh-CN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 </a:t>
            </a:r>
            <a:r>
              <a:rPr lang="en-US" altLang="zh-CN" dirty="0" err="1"/>
              <a:t>Wokwi</a:t>
            </a:r>
            <a:r>
              <a:rPr lang="en-US" altLang="zh-CN" dirty="0"/>
              <a:t> Simulation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 ESP32 Deployment </a:t>
            </a: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4902835" y="548005"/>
            <a:ext cx="2371090" cy="433070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altLang="en-IN" sz="2400" b="1" dirty="0"/>
              <a:t>Modules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11765" r="3981" b="433"/>
          <a:stretch>
            <a:fillRect/>
          </a:stretch>
        </p:blipFill>
        <p:spPr>
          <a:xfrm>
            <a:off x="3450590" y="1153795"/>
            <a:ext cx="1209675" cy="11677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839" b="8835"/>
          <a:stretch>
            <a:fillRect/>
          </a:stretch>
        </p:blipFill>
        <p:spPr>
          <a:xfrm rot="18480000">
            <a:off x="7874635" y="3484880"/>
            <a:ext cx="542290" cy="17887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839" b="8835"/>
          <a:stretch>
            <a:fillRect/>
          </a:stretch>
        </p:blipFill>
        <p:spPr>
          <a:xfrm rot="7020000">
            <a:off x="7826375" y="-222885"/>
            <a:ext cx="542290" cy="1788795"/>
          </a:xfrm>
          <a:prstGeom prst="rect">
            <a:avLst/>
          </a:prstGeom>
        </p:spPr>
      </p:pic>
      <p:pic>
        <p:nvPicPr>
          <p:cNvPr id="146" name="Google Shape;146;p27" descr="kec2blackborder png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0"/>
            <a:ext cx="655955" cy="60134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31FEE6F-8F42-40DA-E979-FC2C117DF4E5}"/>
              </a:ext>
            </a:extLst>
          </p:cNvPr>
          <p:cNvSpPr/>
          <p:nvPr/>
        </p:nvSpPr>
        <p:spPr>
          <a:xfrm>
            <a:off x="3549905" y="2541924"/>
            <a:ext cx="1110360" cy="2501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Insufficient SRAM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02CCE0-5053-354A-4601-FC42E0E458D2}"/>
              </a:ext>
            </a:extLst>
          </p:cNvPr>
          <p:cNvCxnSpPr>
            <a:cxnSpLocks/>
          </p:cNvCxnSpPr>
          <p:nvPr/>
        </p:nvCxnSpPr>
        <p:spPr>
          <a:xfrm>
            <a:off x="3181815" y="2667019"/>
            <a:ext cx="5641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B20B489-83EC-7C31-1E74-92EF7C2F5A47}"/>
              </a:ext>
            </a:extLst>
          </p:cNvPr>
          <p:cNvSpPr/>
          <p:nvPr/>
        </p:nvSpPr>
        <p:spPr>
          <a:xfrm>
            <a:off x="3549905" y="3120866"/>
            <a:ext cx="1110360" cy="2501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Allocate PSRAM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2649EA6-67E3-800A-647E-A3789E5537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36450" y="3245960"/>
            <a:ext cx="1110360" cy="250192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68A261C-7F8F-9C56-C1FC-7AC5D36B357B}"/>
              </a:ext>
            </a:extLst>
          </p:cNvPr>
          <p:cNvSpPr txBox="1"/>
          <p:nvPr/>
        </p:nvSpPr>
        <p:spPr>
          <a:xfrm>
            <a:off x="3928946" y="2802602"/>
            <a:ext cx="312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dirty="0"/>
              <a:t>↓</a:t>
            </a:r>
            <a:endParaRPr lang="en-IN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BD168DF-0068-D708-9C8D-B243421DCBCE}"/>
              </a:ext>
            </a:extLst>
          </p:cNvPr>
          <p:cNvCxnSpPr/>
          <p:nvPr/>
        </p:nvCxnSpPr>
        <p:spPr>
          <a:xfrm>
            <a:off x="1628078" y="2802602"/>
            <a:ext cx="0" cy="5789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2679702" y="989330"/>
            <a:ext cx="2141220" cy="3714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b="1" dirty="0"/>
              <a:t>Classes</a:t>
            </a:r>
            <a:r>
              <a:rPr lang="en-IN" altLang="en-US" sz="1200" b="1" dirty="0"/>
              <a:t>:</a:t>
            </a:r>
            <a:endParaRPr lang="en-US" altLang="en-US" sz="1200" b="1" dirty="0"/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dirty="0"/>
              <a:t>Safe Driving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dirty="0"/>
              <a:t>Texting Right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dirty="0"/>
              <a:t>Texting Left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dirty="0"/>
              <a:t>Talking Phone Right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dirty="0"/>
              <a:t>Talking Phone Left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dirty="0"/>
              <a:t>Operating Radio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dirty="0"/>
              <a:t>Drinking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dirty="0"/>
              <a:t>Reaching Behind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dirty="0"/>
              <a:t>Hair and Makeup</a:t>
            </a:r>
          </a:p>
          <a:p>
            <a:pPr marL="137160" indent="0" algn="just">
              <a:lnSpc>
                <a:spcPct val="150000"/>
              </a:lnSpc>
              <a:buNone/>
            </a:pPr>
            <a:r>
              <a:rPr lang="en-US" altLang="en-US" sz="1200" dirty="0"/>
              <a:t>Talking to Passenger</a:t>
            </a:r>
          </a:p>
        </p:txBody>
      </p:sp>
      <p:pic>
        <p:nvPicPr>
          <p:cNvPr id="146" name="Google Shape;146;p27" descr="kec2blackborder png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721995" cy="6324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92120" y="88265"/>
            <a:ext cx="4088765" cy="396240"/>
          </a:xfrm>
        </p:spPr>
        <p:txBody>
          <a:bodyPr/>
          <a:lstStyle/>
          <a:p>
            <a:pPr marL="0" indent="0"/>
            <a:r>
              <a:rPr lang="en-US" sz="1800" b="1" dirty="0">
                <a:solidFill>
                  <a:srgbClr val="0070C0"/>
                </a:solidFill>
              </a:rPr>
              <a:t> </a:t>
            </a:r>
            <a:br>
              <a:rPr lang="en-US" sz="1800" b="1" dirty="0"/>
            </a:br>
            <a:br>
              <a:rPr lang="en-US" sz="1800" dirty="0"/>
            </a:br>
            <a:r>
              <a:rPr lang="en-US" sz="1800" b="1" dirty="0">
                <a:solidFill>
                  <a:srgbClr val="0070C0"/>
                </a:solidFill>
              </a:rPr>
              <a:t>Dataset Description</a:t>
            </a:r>
            <a:endParaRPr lang="en-US" sz="1800" dirty="0"/>
          </a:p>
        </p:txBody>
      </p:sp>
      <p:sp>
        <p:nvSpPr>
          <p:cNvPr id="2" name="Text Box 1"/>
          <p:cNvSpPr txBox="1"/>
          <p:nvPr/>
        </p:nvSpPr>
        <p:spPr>
          <a:xfrm>
            <a:off x="4958715" y="970915"/>
            <a:ext cx="3898900" cy="37147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ct val="60000"/>
              </a:spcAft>
              <a:buFont typeface="Wingdings" panose="05000000000000000000" charset="0"/>
              <a:buNone/>
            </a:pPr>
            <a:r>
              <a:rPr lang="en-US" altLang="zh-CN" b="1" dirty="0"/>
              <a:t>Image Details</a:t>
            </a:r>
            <a:r>
              <a:rPr lang="en-IN" altLang="en-US" b="1" dirty="0"/>
              <a:t>:</a:t>
            </a:r>
            <a:endParaRPr lang="en-US" altLang="zh-CN" b="1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Original Image Size: 224 × 224 × 3 (RGB)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Optimized Models: </a:t>
            </a:r>
          </a:p>
          <a:p>
            <a:pPr marL="0" lvl="1" indent="45720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dirty="0"/>
              <a:t>96 × 96 × 1 (Grayscale) </a:t>
            </a:r>
          </a:p>
          <a:p>
            <a:pPr marL="0" lvl="1" indent="45720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dirty="0"/>
              <a:t>64 × 64 × 1 (Grayscale) </a:t>
            </a:r>
          </a:p>
          <a:p>
            <a:pPr marL="0" indent="0" algn="just">
              <a:lnSpc>
                <a:spcPct val="150000"/>
              </a:lnSpc>
              <a:spcAft>
                <a:spcPct val="60000"/>
              </a:spcAft>
              <a:buFont typeface="Wingdings" panose="05000000000000000000" charset="0"/>
              <a:buNone/>
            </a:pPr>
            <a:r>
              <a:rPr lang="en-US" altLang="zh-CN" b="1" dirty="0"/>
              <a:t>Preprocessing</a:t>
            </a:r>
            <a:r>
              <a:rPr lang="en-IN" altLang="en-US" b="1" dirty="0"/>
              <a:t>:</a:t>
            </a:r>
            <a:endParaRPr lang="en-US" altLang="zh-CN" b="1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Resize images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Convert RGB to Grayscale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Normalize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INT8 Quantization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50900" y="556895"/>
            <a:ext cx="4572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IN" b="1" dirty="0">
                <a:sym typeface="+mn-ea"/>
              </a:rPr>
              <a:t>Dataset Used:</a:t>
            </a:r>
            <a:r>
              <a:rPr lang="en-IN" dirty="0">
                <a:sym typeface="+mn-ea"/>
              </a:rPr>
              <a:t> </a:t>
            </a:r>
            <a:r>
              <a:rPr lang="en-US" altLang="en-US" dirty="0">
                <a:sym typeface="+mn-ea"/>
              </a:rPr>
              <a:t>State Farm Driver Distraction Dataset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 l="1839" b="8835"/>
          <a:stretch>
            <a:fillRect/>
          </a:stretch>
        </p:blipFill>
        <p:spPr>
          <a:xfrm rot="7020000">
            <a:off x="7666355" y="-222250"/>
            <a:ext cx="542290" cy="1788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100054-456B-9ACD-0CDE-2F5CCB7E59CF}"/>
              </a:ext>
            </a:extLst>
          </p:cNvPr>
          <p:cNvSpPr txBox="1"/>
          <p:nvPr/>
        </p:nvSpPr>
        <p:spPr>
          <a:xfrm>
            <a:off x="1044413" y="1384935"/>
            <a:ext cx="1325407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Total images</a:t>
            </a:r>
            <a:r>
              <a:rPr lang="en-US" dirty="0"/>
              <a:t>:</a:t>
            </a:r>
          </a:p>
          <a:p>
            <a:r>
              <a:rPr lang="en-US" dirty="0"/>
              <a:t>     97,150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14BD5-7707-FFDC-6382-22314D246866}"/>
              </a:ext>
            </a:extLst>
          </p:cNvPr>
          <p:cNvSpPr txBox="1"/>
          <p:nvPr/>
        </p:nvSpPr>
        <p:spPr>
          <a:xfrm>
            <a:off x="1044413" y="2465225"/>
            <a:ext cx="132540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Training set </a:t>
            </a:r>
            <a:r>
              <a:rPr lang="en-US" dirty="0"/>
              <a:t>:</a:t>
            </a:r>
          </a:p>
          <a:p>
            <a:r>
              <a:rPr lang="en-US" dirty="0"/>
              <a:t>     22,424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D1B6B2-BCFD-7F2E-CFD1-F56A5E7F9C87}"/>
              </a:ext>
            </a:extLst>
          </p:cNvPr>
          <p:cNvSpPr txBox="1"/>
          <p:nvPr/>
        </p:nvSpPr>
        <p:spPr>
          <a:xfrm>
            <a:off x="1044413" y="3545515"/>
            <a:ext cx="1325407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Testing set</a:t>
            </a:r>
            <a:r>
              <a:rPr lang="en-US" dirty="0"/>
              <a:t>:</a:t>
            </a:r>
          </a:p>
          <a:p>
            <a:r>
              <a:rPr lang="en-US" dirty="0"/>
              <a:t>     74,726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465455" y="1031240"/>
            <a:ext cx="7832090" cy="3624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lvl="1">
              <a:lnSpc>
                <a:spcPct val="150000"/>
              </a:lnSpc>
              <a:defRPr sz="1800"/>
            </a:pPr>
            <a:r>
              <a:rPr lang="en-US" sz="1400" dirty="0"/>
              <a:t>Developed an efficient </a:t>
            </a:r>
            <a:r>
              <a:rPr lang="en-US" sz="1400" dirty="0" err="1"/>
              <a:t>TinyML</a:t>
            </a:r>
            <a:r>
              <a:rPr lang="en-US" sz="1400" dirty="0"/>
              <a:t>-based driver distraction detection framework suitable for resource-constrained microcontroller platforms.</a:t>
            </a:r>
          </a:p>
          <a:p>
            <a:pPr lvl="1">
              <a:lnSpc>
                <a:spcPct val="150000"/>
              </a:lnSpc>
              <a:defRPr sz="1800"/>
            </a:pPr>
            <a:r>
              <a:rPr lang="en-US" sz="1400" dirty="0"/>
              <a:t>Integrated transfer learning, teacher–student knowledge distillation, INT8 quantization, and TensorFlow Lite Micro to optimize model size, memory usage, and inference speed.</a:t>
            </a:r>
          </a:p>
          <a:p>
            <a:pPr lvl="1">
              <a:lnSpc>
                <a:spcPct val="150000"/>
              </a:lnSpc>
              <a:defRPr sz="1800"/>
            </a:pPr>
            <a:r>
              <a:rPr lang="en-US" sz="1400" dirty="0"/>
              <a:t>Evaluated multiple input resolutions and benchmarked accuracy, latency, runtime memory, and model size to identify the best trade-off for edge deployment.</a:t>
            </a:r>
          </a:p>
          <a:p>
            <a:pPr lvl="1">
              <a:lnSpc>
                <a:spcPct val="150000"/>
              </a:lnSpc>
              <a:defRPr sz="1800"/>
            </a:pPr>
            <a:r>
              <a:rPr lang="en-US" sz="1400" dirty="0"/>
              <a:t>Demonstrated that reliable real-time driver distraction detection can be achieved on low-cost embedded hardware, providing a practical solution for intelligent transportation and edge AI applications</a:t>
            </a:r>
            <a:endParaRPr lang="en-US" altLang="en-US" sz="1200" dirty="0"/>
          </a:p>
        </p:txBody>
      </p:sp>
      <p:pic>
        <p:nvPicPr>
          <p:cNvPr id="146" name="Google Shape;146;p27" descr="kec2blackborder png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655955" cy="6851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48976" y="543687"/>
            <a:ext cx="7108031" cy="364166"/>
          </a:xfrm>
        </p:spPr>
        <p:txBody>
          <a:bodyPr/>
          <a:lstStyle/>
          <a:p>
            <a:br>
              <a:rPr lang="en-IN" sz="2400" b="1" dirty="0">
                <a:latin typeface="+mj-lt"/>
                <a:cs typeface="Times New Roman" panose="02020603050405020304" pitchFamily="18" charset="0"/>
              </a:rPr>
            </a:br>
            <a:r>
              <a:rPr lang="en-IN" sz="2400" b="1" dirty="0">
                <a:latin typeface="+mj-lt"/>
                <a:cs typeface="Times New Roman" panose="02020603050405020304" pitchFamily="18" charset="0"/>
              </a:rPr>
              <a:t>Planned Implementation</a:t>
            </a:r>
            <a:endParaRPr lang="en-US" sz="2400" b="1" dirty="0">
              <a:solidFill>
                <a:srgbClr val="0070C0"/>
              </a:solidFill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 l="1839" b="8835"/>
          <a:stretch>
            <a:fillRect/>
          </a:stretch>
        </p:blipFill>
        <p:spPr>
          <a:xfrm rot="7020000">
            <a:off x="7378065" y="-222250"/>
            <a:ext cx="542290" cy="17887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 l="1839" b="8835"/>
          <a:stretch>
            <a:fillRect/>
          </a:stretch>
        </p:blipFill>
        <p:spPr>
          <a:xfrm rot="17340000">
            <a:off x="7938770" y="3701415"/>
            <a:ext cx="542290" cy="17887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A84D042A-9F1D-AB25-633C-B6F50F61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 descr="kec2blackborder png.PNG">
            <a:extLst>
              <a:ext uri="{FF2B5EF4-FFF2-40B4-BE49-F238E27FC236}">
                <a16:creationId xmlns:a16="http://schemas.microsoft.com/office/drawing/2014/main" id="{10EB9712-2BD0-CF2E-081A-0196BF355B7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655955" cy="6851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9A50A07-D968-7308-2762-3DBDD06AA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610" y="74567"/>
            <a:ext cx="7108031" cy="364166"/>
          </a:xfrm>
        </p:spPr>
        <p:txBody>
          <a:bodyPr/>
          <a:lstStyle/>
          <a:p>
            <a:br>
              <a:rPr lang="en-IN" sz="2400" b="1" dirty="0">
                <a:latin typeface="+mj-lt"/>
                <a:cs typeface="Times New Roman" panose="02020603050405020304" pitchFamily="18" charset="0"/>
              </a:rPr>
            </a:br>
            <a:r>
              <a:rPr lang="en-IN" sz="2400" b="1" dirty="0">
                <a:latin typeface="+mj-lt"/>
                <a:cs typeface="Times New Roman" panose="02020603050405020304" pitchFamily="18" charset="0"/>
              </a:rPr>
              <a:t>Immediate Results </a:t>
            </a:r>
            <a:endParaRPr lang="en-US" sz="2400" b="1" dirty="0">
              <a:solidFill>
                <a:srgbClr val="0070C0"/>
              </a:solidFill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DFB784-73C5-5788-2379-6EC5B7FFA5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9" b="8835"/>
          <a:stretch>
            <a:fillRect/>
          </a:stretch>
        </p:blipFill>
        <p:spPr>
          <a:xfrm rot="17340000">
            <a:off x="7938770" y="3701415"/>
            <a:ext cx="542290" cy="1788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92EED1-3AE7-89F3-A98E-F7A8A7A896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912" t="7438" r="32755" b="48564"/>
          <a:stretch>
            <a:fillRect/>
          </a:stretch>
        </p:blipFill>
        <p:spPr>
          <a:xfrm>
            <a:off x="2818186" y="3456443"/>
            <a:ext cx="3635339" cy="168693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180C9F-9E97-E6C2-EAE3-8D25F8D59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049721"/>
              </p:ext>
            </p:extLst>
          </p:nvPr>
        </p:nvGraphicFramePr>
        <p:xfrm>
          <a:off x="1013460" y="438733"/>
          <a:ext cx="7679474" cy="2979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2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2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1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9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70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176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 </a:t>
                      </a:r>
                    </a:p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Used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 marL="27432" marR="2743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 marL="27432" marR="2743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Tensor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Arena</a:t>
                      </a:r>
                    </a:p>
                  </a:txBody>
                  <a:tcPr marL="27432" marR="2743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Teacher model size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Wokwi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 marL="27432" marR="2743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Est. Real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ESP32 Latency</a:t>
                      </a:r>
                    </a:p>
                  </a:txBody>
                  <a:tcPr marL="27432" marR="2743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 /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Result Summary</a:t>
                      </a:r>
                    </a:p>
                  </a:txBody>
                  <a:tcPr marL="27432" marR="27432" marT="18288" marB="18288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1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ResNet50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96x96x3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INT8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23 KB</a:t>
                      </a:r>
                      <a:endParaRPr sz="1100" b="0" dirty="0">
                        <a:solidFill>
                          <a:srgbClr val="111827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204,800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bytes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0.18 MB</a:t>
                      </a:r>
                      <a:endParaRPr sz="1000" b="0" dirty="0">
                        <a:solidFill>
                          <a:srgbClr val="111827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48,390-48,391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~</a:t>
                      </a:r>
                      <a:r>
                        <a:rPr lang="en-IN" sz="1100" b="0" dirty="0">
                          <a:solidFill>
                            <a:srgbClr val="111827"/>
                          </a:solidFill>
                        </a:rPr>
                        <a:t>2,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419.5-419.6</a:t>
                      </a:r>
                    </a:p>
                    <a:p>
                      <a:pPr algn="ctr"/>
                      <a:r>
                        <a:rPr sz="1100" b="0" dirty="0" err="1">
                          <a:solidFill>
                            <a:srgbClr val="111827"/>
                          </a:solidFill>
                        </a:rPr>
                        <a:t>ms</a:t>
                      </a:r>
                      <a:endParaRPr sz="1100" b="0" dirty="0">
                        <a:solidFill>
                          <a:srgbClr val="111827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Confidence: </a:t>
                      </a: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0.595107</a:t>
                      </a:r>
                    </a:p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Accuracy: 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0.85410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11827"/>
                          </a:solidFill>
                        </a:rPr>
                        <a:t>EfficientNetB0</a:t>
                      </a: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96x96x3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INT8</a:t>
                      </a: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23 KB</a:t>
                      </a: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204,800</a:t>
                      </a:r>
                    </a:p>
                    <a:p>
                      <a:pPr algn="ctr"/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bytes</a:t>
                      </a: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3.09 MB</a:t>
                      </a:r>
                      <a:endParaRPr sz="1000" b="0" dirty="0">
                        <a:solidFill>
                          <a:srgbClr val="111827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1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8,391</a:t>
                      </a:r>
                    </a:p>
                    <a:p>
                      <a:pPr algn="ctr"/>
                      <a:r>
                        <a:rPr sz="1100" b="0" dirty="0" err="1">
                          <a:solidFill>
                            <a:srgbClr val="111827"/>
                          </a:solidFill>
                        </a:rPr>
                        <a:t>ms</a:t>
                      </a:r>
                      <a:endParaRPr sz="1100" b="0" dirty="0">
                        <a:solidFill>
                          <a:srgbClr val="111827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~</a:t>
                      </a:r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1,172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.6</a:t>
                      </a:r>
                    </a:p>
                    <a:p>
                      <a:pPr algn="ctr"/>
                      <a:r>
                        <a:rPr lang="en-IN" sz="1100" b="0" dirty="0">
                          <a:solidFill>
                            <a:srgbClr val="111827"/>
                          </a:solidFill>
                        </a:rPr>
                        <a:t>M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s</a:t>
                      </a: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Confidence: </a:t>
                      </a:r>
                      <a:r>
                        <a:rPr lang="en-IN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0.851242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Accuracy: 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0.80974</a:t>
                      </a:r>
                    </a:p>
                    <a:p>
                      <a:pPr algn="ctr"/>
                      <a:endParaRPr lang="en-US" sz="105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MobileNetV3</a:t>
                      </a:r>
                    </a:p>
                  </a:txBody>
                  <a:tcPr marL="27432" marR="27432" marT="18288" marB="18288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96x96x3</a:t>
                      </a:r>
                    </a:p>
                    <a:p>
                      <a:pPr algn="ctr"/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INT8</a:t>
                      </a:r>
                    </a:p>
                  </a:txBody>
                  <a:tcPr marL="27432" marR="27432" marT="18288" marB="18288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23 KB</a:t>
                      </a:r>
                    </a:p>
                  </a:txBody>
                  <a:tcPr marL="27432" marR="27432" marT="18288" marB="18288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204,800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bytes</a:t>
                      </a:r>
                    </a:p>
                  </a:txBody>
                  <a:tcPr marL="27432" marR="27432" marT="18288" marB="18288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8.07 MB</a:t>
                      </a:r>
                      <a:endParaRPr sz="1000" b="0" dirty="0">
                        <a:solidFill>
                          <a:srgbClr val="111827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2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8,391-8,392</a:t>
                      </a:r>
                    </a:p>
                    <a:p>
                      <a:pPr algn="ctr"/>
                      <a:r>
                        <a:rPr sz="1100" b="0" dirty="0" err="1">
                          <a:solidFill>
                            <a:srgbClr val="111827"/>
                          </a:solidFill>
                        </a:rPr>
                        <a:t>ms</a:t>
                      </a:r>
                      <a:endParaRPr sz="1100" b="0" dirty="0">
                        <a:solidFill>
                          <a:srgbClr val="111827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~</a:t>
                      </a:r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8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19.6</a:t>
                      </a:r>
                    </a:p>
                    <a:p>
                      <a:pPr algn="ctr"/>
                      <a:r>
                        <a:rPr lang="en-IN" sz="1100" b="0" dirty="0">
                          <a:solidFill>
                            <a:srgbClr val="111827"/>
                          </a:solidFill>
                        </a:rPr>
                        <a:t>M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s</a:t>
                      </a:r>
                    </a:p>
                  </a:txBody>
                  <a:tcPr marL="27432" marR="27432" marT="18288" marB="18288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Confidence: 0.968652</a:t>
                      </a:r>
                      <a:endParaRPr sz="1100" b="0" dirty="0">
                        <a:solidFill>
                          <a:srgbClr val="111827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Accuracy: 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0.86008</a:t>
                      </a:r>
                    </a:p>
                    <a:p>
                      <a:pPr algn="ctr"/>
                      <a:endParaRPr sz="1100" b="0" dirty="0">
                        <a:solidFill>
                          <a:srgbClr val="111827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68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ConvNeXt</a:t>
                      </a: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96x96x3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INT8</a:t>
                      </a: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23 KB</a:t>
                      </a: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204,800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bytes</a:t>
                      </a: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23.93 MB</a:t>
                      </a:r>
                      <a:endParaRPr sz="1000" b="0" dirty="0">
                        <a:solidFill>
                          <a:srgbClr val="111827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48,392</a:t>
                      </a:r>
                    </a:p>
                    <a:p>
                      <a:pPr algn="ctr"/>
                      <a:r>
                        <a:rPr sz="1100" b="0" dirty="0" err="1">
                          <a:solidFill>
                            <a:srgbClr val="111827"/>
                          </a:solidFill>
                        </a:rPr>
                        <a:t>ms</a:t>
                      </a:r>
                      <a:endParaRPr sz="1100" b="0" dirty="0">
                        <a:solidFill>
                          <a:srgbClr val="111827"/>
                        </a:solidFill>
                      </a:endParaRP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~</a:t>
                      </a:r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4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,</a:t>
                      </a:r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2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1</a:t>
                      </a:r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7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.6</a:t>
                      </a:r>
                    </a:p>
                    <a:p>
                      <a:pPr algn="ctr"/>
                      <a:r>
                        <a:rPr lang="en-IN" sz="1100" b="0" dirty="0">
                          <a:solidFill>
                            <a:srgbClr val="111827"/>
                          </a:solidFill>
                        </a:rPr>
                        <a:t>M</a:t>
                      </a:r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s</a:t>
                      </a: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Confidence: </a:t>
                      </a:r>
                      <a:r>
                        <a:rPr lang="en-IN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0.295631</a:t>
                      </a:r>
                    </a:p>
                    <a:p>
                      <a:pPr algn="ctr"/>
                      <a:r>
                        <a:rPr lang="en-US" sz="1100" b="0" dirty="0">
                          <a:solidFill>
                            <a:srgbClr val="111827"/>
                          </a:solidFill>
                        </a:rPr>
                        <a:t>Accuracy: </a:t>
                      </a:r>
                      <a:r>
                        <a:rPr lang="en-IN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0.75106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500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E727DE38-279B-F999-C5FF-BD5F8A41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 descr="kec2blackborder png.PNG">
            <a:extLst>
              <a:ext uri="{FF2B5EF4-FFF2-40B4-BE49-F238E27FC236}">
                <a16:creationId xmlns:a16="http://schemas.microsoft.com/office/drawing/2014/main" id="{FE5ABEA5-726E-C4AC-0673-22672354A75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655955" cy="685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7C1141-F585-A047-3E80-74CA05D02D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9" b="8835"/>
          <a:stretch>
            <a:fillRect/>
          </a:stretch>
        </p:blipFill>
        <p:spPr>
          <a:xfrm rot="17340000">
            <a:off x="7938770" y="3701415"/>
            <a:ext cx="542290" cy="178879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A98FB4E-BA39-2382-30EB-E53463D17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413271"/>
              </p:ext>
            </p:extLst>
          </p:nvPr>
        </p:nvGraphicFramePr>
        <p:xfrm>
          <a:off x="1828800" y="5526"/>
          <a:ext cx="5833043" cy="513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2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1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4571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 used</a:t>
                      </a:r>
                    </a:p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for student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Hardware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FPS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RAM usage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Model / Arena</a:t>
                      </a:r>
                    </a:p>
                  </a:txBody>
                  <a:tcPr marL="22860" marR="22860" marT="9144" marB="9144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7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111827"/>
                          </a:solidFill>
                        </a:rPr>
                        <a:t>ResNet50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111827"/>
                          </a:solidFill>
                        </a:rPr>
                        <a:t>ESP32-S3</a:t>
                      </a:r>
                    </a:p>
                    <a:p>
                      <a:pPr algn="ctr"/>
                      <a:r>
                        <a:rPr sz="900" b="1" dirty="0" err="1">
                          <a:solidFill>
                            <a:srgbClr val="111827"/>
                          </a:solidFill>
                        </a:rPr>
                        <a:t>Wokwi</a:t>
                      </a:r>
                      <a:endParaRPr sz="900" b="1" dirty="0">
                        <a:solidFill>
                          <a:srgbClr val="111827"/>
                        </a:solidFill>
                      </a:endParaRP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~2,419.6 </a:t>
                      </a:r>
                      <a:r>
                        <a:rPr sz="900" b="0" dirty="0" err="1">
                          <a:solidFill>
                            <a:srgbClr val="111827"/>
                          </a:solidFill>
                        </a:rPr>
                        <a:t>ms</a:t>
                      </a:r>
                      <a:endParaRPr sz="900" b="0" dirty="0">
                        <a:solidFill>
                          <a:srgbClr val="111827"/>
                        </a:solidFill>
                      </a:endParaRP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24,880 B static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+ 204,800 B arena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~70% effective SRAM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ResNet50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111827"/>
                          </a:solidFill>
                        </a:rPr>
                        <a:t>M5Stack</a:t>
                      </a:r>
                    </a:p>
                    <a:p>
                      <a:pPr algn="ctr"/>
                      <a:r>
                        <a:rPr sz="900" b="1" dirty="0">
                          <a:solidFill>
                            <a:srgbClr val="111827"/>
                          </a:solidFill>
                        </a:rPr>
                        <a:t>CoreS3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~2,419.6 </a:t>
                      </a:r>
                      <a:r>
                        <a:rPr sz="900" b="0" dirty="0" err="1">
                          <a:solidFill>
                            <a:srgbClr val="111827"/>
                          </a:solidFill>
                        </a:rPr>
                        <a:t>ms</a:t>
                      </a:r>
                      <a:endParaRPr sz="900" b="0" dirty="0">
                        <a:solidFill>
                          <a:srgbClr val="111827"/>
                        </a:solidFill>
                      </a:endParaRP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Same ESP32-S3 class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 arena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PSRAM available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57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ResNet50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Raspberry Pi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Pico RP2040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~43.4 </a:t>
                      </a:r>
                      <a:r>
                        <a:rPr sz="900" b="0" dirty="0" err="1">
                          <a:solidFill>
                            <a:srgbClr val="111827"/>
                          </a:solidFill>
                        </a:rPr>
                        <a:t>ms</a:t>
                      </a:r>
                      <a:endParaRPr sz="900" b="0" dirty="0">
                        <a:solidFill>
                          <a:srgbClr val="111827"/>
                        </a:solidFill>
                      </a:endParaRP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23.04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251,568 / 270,336 B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93.1% RAM used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68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EfficientNetB0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ESP32-S3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Wokwi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~2,419.6 </a:t>
                      </a:r>
                      <a:r>
                        <a:rPr sz="900" b="0" dirty="0" err="1">
                          <a:solidFill>
                            <a:srgbClr val="111827"/>
                          </a:solidFill>
                        </a:rPr>
                        <a:t>ms</a:t>
                      </a:r>
                      <a:endParaRPr sz="900" b="0" dirty="0">
                        <a:solidFill>
                          <a:srgbClr val="111827"/>
                        </a:solidFill>
                      </a:endParaRP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24,880 B static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+ 204,800 B arena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~70% effective SRAM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68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EfficientNetB0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M5Stack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CoreS3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~2,419.6 </a:t>
                      </a:r>
                      <a:r>
                        <a:rPr sz="900" b="0" dirty="0" err="1">
                          <a:solidFill>
                            <a:srgbClr val="111827"/>
                          </a:solidFill>
                        </a:rPr>
                        <a:t>ms</a:t>
                      </a:r>
                      <a:endParaRPr sz="900" b="0" dirty="0">
                        <a:solidFill>
                          <a:srgbClr val="111827"/>
                        </a:solidFill>
                      </a:endParaRP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Same ESP32-S3 class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 arena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PSRAM available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57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EfficientNetB0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Raspberry Pi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Pico RP2040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~43.4 ms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23.04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251,568 / 270,336 B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93.1% RAM used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687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111827"/>
                          </a:solidFill>
                        </a:rPr>
                        <a:t>MobileNetV3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ESP32-S3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Wokwi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24,880 B static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+ 204,800 B arena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~70% effective SRAM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68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MobileNetV3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M5Stack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CoreS3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Same ESP32-S3 class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 arena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PSRAM available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57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MobileNetV3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Raspberry Pi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Pico RP2040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~43.4 ms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23.04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251,568 / 270,336 B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93.1% RAM used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68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ConvNeXt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ESP32-S3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Wokwi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24,880 B static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+ 204,800 B arena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~70% effective SRAM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68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ConvNeXt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M5Stack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CoreS3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~2,419.6 ms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0.41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Same ESP32-S3 class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204,800 B arena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PSRAM available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457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ConvNeXt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Raspberry Pi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11827"/>
                          </a:solidFill>
                        </a:rPr>
                        <a:t>Pico RP2040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~43.4 ms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est. real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23.04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251,568 / 270,336 B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93.1% RAM used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22,728 B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111827"/>
                          </a:solidFill>
                        </a:rPr>
                        <a:t>204,800 B</a:t>
                      </a:r>
                    </a:p>
                  </a:txBody>
                  <a:tcPr marL="22860" marR="22860" marT="4572" marB="4572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7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>
            <a:spLocks noGrp="1"/>
          </p:cNvSpPr>
          <p:nvPr>
            <p:ph type="body" idx="1"/>
          </p:nvPr>
        </p:nvSpPr>
        <p:spPr>
          <a:xfrm>
            <a:off x="899592" y="2031690"/>
            <a:ext cx="7787208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280"/>
              <a:buNone/>
            </a:pPr>
            <a:r>
              <a:rPr lang="en-GB" sz="6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 !!</a:t>
            </a:r>
            <a:endParaRPr sz="6600" b="1" dirty="0">
              <a:solidFill>
                <a:schemeClr val="bg2">
                  <a:lumMod val="40000"/>
                  <a:lumOff val="6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10" name="Google Shape;210;p34" descr="kec2blackborder png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39459"/>
            <a:ext cx="508210" cy="474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1640</Words>
  <Application>Microsoft Office PowerPoint</Application>
  <PresentationFormat>On-screen Show (16:9)</PresentationFormat>
  <Paragraphs>430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Wingdings</vt:lpstr>
      <vt:lpstr>Noto Sans Symbols</vt:lpstr>
      <vt:lpstr>Calibri</vt:lpstr>
      <vt:lpstr>Times New Roman</vt:lpstr>
      <vt:lpstr>Simple Light</vt:lpstr>
      <vt:lpstr>Flow</vt:lpstr>
      <vt:lpstr>PowerPoint Presentation</vt:lpstr>
      <vt:lpstr>   Problem statement</vt:lpstr>
      <vt:lpstr>Objectives</vt:lpstr>
      <vt:lpstr>Literature Survey</vt:lpstr>
      <vt:lpstr>Research Gap</vt:lpstr>
      <vt:lpstr>Proposed Solution</vt:lpstr>
      <vt:lpstr>Workflow</vt:lpstr>
      <vt:lpstr>PowerPoint Presentation</vt:lpstr>
      <vt:lpstr>flow</vt:lpstr>
      <vt:lpstr>   Dataset Description</vt:lpstr>
      <vt:lpstr> Planned Implementation</vt:lpstr>
      <vt:lpstr> Immediate Results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harikiruthik G.R.</cp:lastModifiedBy>
  <cp:revision>34</cp:revision>
  <dcterms:created xsi:type="dcterms:W3CDTF">2026-07-01T16:47:00Z</dcterms:created>
  <dcterms:modified xsi:type="dcterms:W3CDTF">2026-08-01T04:13:26Z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7FF6E4A7387449ACAE4B2D4CD4E34339_12</vt:lpwstr>
  </property>
</Properties>
</file>