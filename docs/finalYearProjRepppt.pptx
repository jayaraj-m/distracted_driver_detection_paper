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22"/>
  </p:notesMasterIdLst>
  <p:sldIdLst>
    <p:sldId id="256" r:id="rId3"/>
    <p:sldId id="257" r:id="rId4"/>
    <p:sldId id="269" r:id="rId5"/>
    <p:sldId id="270" r:id="rId6"/>
    <p:sldId id="265" r:id="rId7"/>
    <p:sldId id="266" r:id="rId8"/>
    <p:sldId id="272" r:id="rId9"/>
    <p:sldId id="276" r:id="rId10"/>
    <p:sldId id="271" r:id="rId11"/>
    <p:sldId id="267" r:id="rId12"/>
    <p:sldId id="268" r:id="rId13"/>
    <p:sldId id="277" r:id="rId14"/>
    <p:sldId id="280" r:id="rId15"/>
    <p:sldId id="278" r:id="rId16"/>
    <p:sldId id="281" r:id="rId17"/>
    <p:sldId id="273" r:id="rId18"/>
    <p:sldId id="274" r:id="rId19"/>
    <p:sldId id="279" r:id="rId20"/>
    <p:sldId id="264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F5F9"/>
    <a:srgbClr val="0000FF"/>
    <a:srgbClr val="FFFFFF"/>
    <a:srgbClr val="EFF3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0976703e21_3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22" name="Google Shape;122;g30976703e21_3_70:notes"/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3" name="Google Shape;123;g30976703e21_3_70:notes"/>
          <p:cNvSpPr txBox="1">
            <a:spLocks noGrp="1"/>
          </p:cNvSpPr>
          <p:nvPr>
            <p:ph type="dt" idx="10"/>
          </p:nvPr>
        </p:nvSpPr>
        <p:spPr>
          <a:xfrm>
            <a:off x="3884620" y="0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22 September 2023</a:t>
            </a:r>
          </a:p>
        </p:txBody>
      </p:sp>
      <p:sp>
        <p:nvSpPr>
          <p:cNvPr id="124" name="Google Shape;124;g30976703e21_3_70:notes"/>
          <p:cNvSpPr txBox="1">
            <a:spLocks noGrp="1"/>
          </p:cNvSpPr>
          <p:nvPr>
            <p:ph type="ftr" idx="11"/>
          </p:nvPr>
        </p:nvSpPr>
        <p:spPr>
          <a:xfrm>
            <a:off x="1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1-59</a:t>
            </a:r>
          </a:p>
        </p:txBody>
      </p:sp>
      <p:sp>
        <p:nvSpPr>
          <p:cNvPr id="125" name="Google Shape;125;g30976703e21_3_70:notes"/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/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/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/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/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/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/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2ECC43FA-64D9-EE67-75C7-15D04CC2B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>
            <a:extLst>
              <a:ext uri="{FF2B5EF4-FFF2-40B4-BE49-F238E27FC236}">
                <a16:creationId xmlns:a16="http://schemas.microsoft.com/office/drawing/2014/main" id="{60F0EF5C-3AD5-345D-A5DB-6EFAE7546C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>
            <a:extLst>
              <a:ext uri="{FF2B5EF4-FFF2-40B4-BE49-F238E27FC236}">
                <a16:creationId xmlns:a16="http://schemas.microsoft.com/office/drawing/2014/main" id="{47D78481-82C3-EA6E-95B7-71539B2AC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>
            <a:extLst>
              <a:ext uri="{FF2B5EF4-FFF2-40B4-BE49-F238E27FC236}">
                <a16:creationId xmlns:a16="http://schemas.microsoft.com/office/drawing/2014/main" id="{954E41CA-1EED-F71D-8739-F93ADA394CA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204998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/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/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10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/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/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11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07C59247-0D34-E756-7569-D0099D838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>
            <a:extLst>
              <a:ext uri="{FF2B5EF4-FFF2-40B4-BE49-F238E27FC236}">
                <a16:creationId xmlns:a16="http://schemas.microsoft.com/office/drawing/2014/main" id="{15A98189-2122-DD5A-3C1C-A97EF878C8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>
            <a:extLst>
              <a:ext uri="{FF2B5EF4-FFF2-40B4-BE49-F238E27FC236}">
                <a16:creationId xmlns:a16="http://schemas.microsoft.com/office/drawing/2014/main" id="{81564E08-674B-F986-B1AC-BA507045DF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>
            <a:extLst>
              <a:ext uri="{FF2B5EF4-FFF2-40B4-BE49-F238E27FC236}">
                <a16:creationId xmlns:a16="http://schemas.microsoft.com/office/drawing/2014/main" id="{7C010203-2BDB-B2A4-4B71-D63B251EB22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12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0735496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41076875-866C-5D90-C605-A631C99B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>
            <a:extLst>
              <a:ext uri="{FF2B5EF4-FFF2-40B4-BE49-F238E27FC236}">
                <a16:creationId xmlns:a16="http://schemas.microsoft.com/office/drawing/2014/main" id="{EC2F3DFD-22F5-B959-87BB-6D9AF1AA4E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>
            <a:extLst>
              <a:ext uri="{FF2B5EF4-FFF2-40B4-BE49-F238E27FC236}">
                <a16:creationId xmlns:a16="http://schemas.microsoft.com/office/drawing/2014/main" id="{6CA9FCA4-4F1B-9745-003D-79CBEC09EF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>
            <a:extLst>
              <a:ext uri="{FF2B5EF4-FFF2-40B4-BE49-F238E27FC236}">
                <a16:creationId xmlns:a16="http://schemas.microsoft.com/office/drawing/2014/main" id="{989BE337-7DB2-1BFE-D6E5-1CED79C7B8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13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4473146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AFC2BD00-29DF-F962-15D3-3C97B2C5F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>
            <a:extLst>
              <a:ext uri="{FF2B5EF4-FFF2-40B4-BE49-F238E27FC236}">
                <a16:creationId xmlns:a16="http://schemas.microsoft.com/office/drawing/2014/main" id="{2363A5D7-BD90-55D8-4F23-D5C8805518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>
            <a:extLst>
              <a:ext uri="{FF2B5EF4-FFF2-40B4-BE49-F238E27FC236}">
                <a16:creationId xmlns:a16="http://schemas.microsoft.com/office/drawing/2014/main" id="{F0E0796A-C304-7901-D61C-E078BFDAB5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>
            <a:extLst>
              <a:ext uri="{FF2B5EF4-FFF2-40B4-BE49-F238E27FC236}">
                <a16:creationId xmlns:a16="http://schemas.microsoft.com/office/drawing/2014/main" id="{8EC68B45-D8B4-B482-0731-A4018EA5D3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14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480297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3F515358-F65E-C670-586B-45EDB938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>
            <a:extLst>
              <a:ext uri="{FF2B5EF4-FFF2-40B4-BE49-F238E27FC236}">
                <a16:creationId xmlns:a16="http://schemas.microsoft.com/office/drawing/2014/main" id="{E0A77BB8-FEA8-7F58-6746-D8679DFAB1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>
            <a:extLst>
              <a:ext uri="{FF2B5EF4-FFF2-40B4-BE49-F238E27FC236}">
                <a16:creationId xmlns:a16="http://schemas.microsoft.com/office/drawing/2014/main" id="{9A3BA98A-A9D1-093D-8B89-44D6589D2F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>
            <a:extLst>
              <a:ext uri="{FF2B5EF4-FFF2-40B4-BE49-F238E27FC236}">
                <a16:creationId xmlns:a16="http://schemas.microsoft.com/office/drawing/2014/main" id="{A7A2A068-4B3B-9BDA-ACD1-EE316D5125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15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426709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539C0211-7371-4A64-4AF3-13034F15D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>
            <a:extLst>
              <a:ext uri="{FF2B5EF4-FFF2-40B4-BE49-F238E27FC236}">
                <a16:creationId xmlns:a16="http://schemas.microsoft.com/office/drawing/2014/main" id="{D1A59C51-1E5D-40CC-BF70-D934CE9C67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>
            <a:extLst>
              <a:ext uri="{FF2B5EF4-FFF2-40B4-BE49-F238E27FC236}">
                <a16:creationId xmlns:a16="http://schemas.microsoft.com/office/drawing/2014/main" id="{A80923F4-1F67-717A-47DB-3D4F19AFDB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>
            <a:extLst>
              <a:ext uri="{FF2B5EF4-FFF2-40B4-BE49-F238E27FC236}">
                <a16:creationId xmlns:a16="http://schemas.microsoft.com/office/drawing/2014/main" id="{BD0D642D-FEDB-9373-4210-FC88921A8EE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16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3723437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0B7E567D-70C7-A2DF-D4EF-1A9B82222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>
            <a:extLst>
              <a:ext uri="{FF2B5EF4-FFF2-40B4-BE49-F238E27FC236}">
                <a16:creationId xmlns:a16="http://schemas.microsoft.com/office/drawing/2014/main" id="{1B4EE513-5138-75C9-DF09-BD6CC689B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>
            <a:extLst>
              <a:ext uri="{FF2B5EF4-FFF2-40B4-BE49-F238E27FC236}">
                <a16:creationId xmlns:a16="http://schemas.microsoft.com/office/drawing/2014/main" id="{54ED1174-90A4-AF72-CA38-63D967A5F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>
            <a:extLst>
              <a:ext uri="{FF2B5EF4-FFF2-40B4-BE49-F238E27FC236}">
                <a16:creationId xmlns:a16="http://schemas.microsoft.com/office/drawing/2014/main" id="{3FB53F3D-2587-94D5-553F-051961B162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17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773520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26B5A80-58FD-CDD6-C15C-70D8DE252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0976703e21_3_88:notes">
            <a:extLst>
              <a:ext uri="{FF2B5EF4-FFF2-40B4-BE49-F238E27FC236}">
                <a16:creationId xmlns:a16="http://schemas.microsoft.com/office/drawing/2014/main" id="{5FA8504F-2CBC-78F0-4F7C-C7A4808855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40" name="Google Shape;140;g30976703e21_3_88:notes">
            <a:extLst>
              <a:ext uri="{FF2B5EF4-FFF2-40B4-BE49-F238E27FC236}">
                <a16:creationId xmlns:a16="http://schemas.microsoft.com/office/drawing/2014/main" id="{0AC8DBF6-6607-8451-33A6-BAAC2E79EA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g30976703e21_3_88:notes">
            <a:extLst>
              <a:ext uri="{FF2B5EF4-FFF2-40B4-BE49-F238E27FC236}">
                <a16:creationId xmlns:a16="http://schemas.microsoft.com/office/drawing/2014/main" id="{1FFC8F09-2D39-D2DF-AC75-285AF6B914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20" y="8685224"/>
            <a:ext cx="2971805" cy="45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725" tIns="47850" rIns="95725" bIns="4785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18</a:t>
            </a:fld>
            <a:endParaRPr sz="13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809637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0976703e21_3_142:notes"/>
          <p:cNvSpPr txBox="1">
            <a:spLocks noGrp="1"/>
          </p:cNvSpPr>
          <p:nvPr>
            <p:ph type="body" idx="1"/>
          </p:nvPr>
        </p:nvSpPr>
        <p:spPr>
          <a:xfrm>
            <a:off x="685802" y="4343406"/>
            <a:ext cx="5486410" cy="41148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30976703e21_3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79413" y="684213"/>
            <a:ext cx="6099175" cy="34305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533400" y="1028700"/>
            <a:ext cx="785164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Arial" panose="020B0604020202020204"/>
              <a:buNone/>
              <a:defRPr sz="5600" b="1">
                <a:solidFill>
                  <a:srgbClr val="4CE0EA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533400" y="2421402"/>
            <a:ext cx="7854696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Autofit/>
          </a:bodyPr>
          <a:lstStyle>
            <a:lvl1pPr marR="45720" lvl="0" algn="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457200" y="52863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457200" y="1451372"/>
            <a:ext cx="8229600" cy="3292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>
            <a:spLocks noGrp="1"/>
          </p:cNvSpPr>
          <p:nvPr>
            <p:ph type="title"/>
          </p:nvPr>
        </p:nvSpPr>
        <p:spPr>
          <a:xfrm>
            <a:off x="530352" y="987552"/>
            <a:ext cx="7772400" cy="1021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4AE3AC"/>
              </a:buClr>
              <a:buSzPts val="5600"/>
              <a:buFont typeface="Arial" panose="020B0604020202020204"/>
              <a:buNone/>
              <a:defRPr sz="5600" b="1" cap="none">
                <a:solidFill>
                  <a:srgbClr val="4AE3AC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body" idx="1"/>
          </p:nvPr>
        </p:nvSpPr>
        <p:spPr>
          <a:xfrm>
            <a:off x="530352" y="2028498"/>
            <a:ext cx="7772400" cy="1132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228600" algn="l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220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57200" y="528066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1"/>
          </p:nvPr>
        </p:nvSpPr>
        <p:spPr>
          <a:xfrm>
            <a:off x="457200" y="1440064"/>
            <a:ext cx="4038600" cy="3326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680" algn="l"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1pPr>
            <a:lvl2pPr marL="914400" lvl="1" indent="-35052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2pPr>
            <a:lvl3pPr marL="1371600" lvl="2" indent="-330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3pPr>
            <a:lvl4pPr marL="1828800" lvl="3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4pPr>
            <a:lvl5pPr marL="2286000" lvl="4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body" idx="2"/>
          </p:nvPr>
        </p:nvSpPr>
        <p:spPr>
          <a:xfrm>
            <a:off x="4648200" y="1440064"/>
            <a:ext cx="4038600" cy="3326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680" algn="l"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1pPr>
            <a:lvl2pPr marL="914400" lvl="1" indent="-35052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2pPr>
            <a:lvl3pPr marL="1371600" lvl="2" indent="-330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3pPr>
            <a:lvl4pPr marL="1828800" lvl="3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4pPr>
            <a:lvl5pPr marL="2286000" lvl="4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>
            <a:spLocks noGrp="1"/>
          </p:cNvSpPr>
          <p:nvPr>
            <p:ph type="title"/>
          </p:nvPr>
        </p:nvSpPr>
        <p:spPr>
          <a:xfrm>
            <a:off x="457200" y="528066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body" idx="1"/>
          </p:nvPr>
        </p:nvSpPr>
        <p:spPr>
          <a:xfrm>
            <a:off x="457200" y="1391436"/>
            <a:ext cx="4040188" cy="494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2"/>
              </a:buClr>
              <a:buSzPts val="192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body" idx="2"/>
          </p:nvPr>
        </p:nvSpPr>
        <p:spPr>
          <a:xfrm>
            <a:off x="4645025" y="1394818"/>
            <a:ext cx="4041775" cy="491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2"/>
              </a:buClr>
              <a:buSzPts val="192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body" idx="3"/>
          </p:nvPr>
        </p:nvSpPr>
        <p:spPr>
          <a:xfrm>
            <a:off x="457200" y="1885950"/>
            <a:ext cx="4040188" cy="288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40360" algn="l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Char char="⮚"/>
              <a:defRPr sz="2200"/>
            </a:lvl1pPr>
            <a:lvl2pPr marL="914400" lvl="1" indent="-330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2pPr>
            <a:lvl3pPr marL="1371600" lvl="2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3pPr>
            <a:lvl4pPr marL="1828800" lvl="3" indent="-30988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4pPr>
            <a:lvl5pPr marL="2286000" lvl="4" indent="-30988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4"/>
          </p:nvPr>
        </p:nvSpPr>
        <p:spPr>
          <a:xfrm>
            <a:off x="4645025" y="1885950"/>
            <a:ext cx="4041775" cy="288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40360" algn="l"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Char char="⮚"/>
              <a:defRPr sz="2200"/>
            </a:lvl1pPr>
            <a:lvl2pPr marL="914400" lvl="1" indent="-330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2pPr>
            <a:lvl3pPr marL="1371600" lvl="2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3pPr>
            <a:lvl4pPr marL="1828800" lvl="3" indent="-30988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4pPr>
            <a:lvl5pPr marL="2286000" lvl="4" indent="-30988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9"/>
          <p:cNvSpPr txBox="1">
            <a:spLocks noGrp="1"/>
          </p:cNvSpPr>
          <p:nvPr>
            <p:ph type="title"/>
          </p:nvPr>
        </p:nvSpPr>
        <p:spPr>
          <a:xfrm>
            <a:off x="457200" y="528066"/>
            <a:ext cx="8305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Arial" panose="020B0604020202020204"/>
              <a:buNone/>
              <a:defRPr sz="5000" b="0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9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1"/>
          <p:cNvSpPr txBox="1">
            <a:spLocks noGrp="1"/>
          </p:cNvSpPr>
          <p:nvPr>
            <p:ph type="title"/>
          </p:nvPr>
        </p:nvSpPr>
        <p:spPr>
          <a:xfrm>
            <a:off x="685800" y="385764"/>
            <a:ext cx="2743200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Arial" panose="020B0604020202020204"/>
              <a:buNone/>
              <a:defRPr sz="2600" b="0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1"/>
          <p:cNvSpPr txBox="1">
            <a:spLocks noGrp="1"/>
          </p:cNvSpPr>
          <p:nvPr>
            <p:ph type="body" idx="1"/>
          </p:nvPr>
        </p:nvSpPr>
        <p:spPr>
          <a:xfrm>
            <a:off x="685800" y="1257300"/>
            <a:ext cx="27432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45700" rIns="1827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12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None/>
              <a:defRPr sz="900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1"/>
          <p:cNvSpPr txBox="1">
            <a:spLocks noGrp="1"/>
          </p:cNvSpPr>
          <p:nvPr>
            <p:ph type="body" idx="2"/>
          </p:nvPr>
        </p:nvSpPr>
        <p:spPr>
          <a:xfrm>
            <a:off x="3575050" y="1257300"/>
            <a:ext cx="511175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7084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Char char="⮚"/>
              <a:defRPr sz="2800"/>
            </a:lvl1pPr>
            <a:lvl2pPr marL="914400" lvl="1" indent="-360680" algn="l"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2pPr>
            <a:lvl3pPr marL="1371600" lvl="2" indent="-35052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3pPr>
            <a:lvl4pPr marL="1828800" lvl="3" indent="-330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4pPr>
            <a:lvl5pPr marL="2286000" lvl="4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2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1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2"/>
          <p:cNvSpPr/>
          <p:nvPr/>
        </p:nvSpPr>
        <p:spPr>
          <a:xfrm rot="-10484314" flipH="1">
            <a:off x="3174030" y="822169"/>
            <a:ext cx="5240690" cy="3103874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500" dir="7500000" sx="98500" sy="100080" kx="100000" algn="tl" rotWithShape="0">
              <a:srgbClr val="000000">
                <a:alpha val="24705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8" name="Google Shape;98;p22"/>
          <p:cNvSpPr/>
          <p:nvPr/>
        </p:nvSpPr>
        <p:spPr>
          <a:xfrm rot="-10484314" flipH="1">
            <a:off x="8004428" y="4019214"/>
            <a:ext cx="155069" cy="117353"/>
          </a:xfrm>
          <a:prstGeom prst="rtTriangle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bevel/>
            <a:headEnd type="none" w="sm" len="sm"/>
            <a:tailEnd type="none" w="sm" len="sm"/>
          </a:ln>
          <a:effectLst>
            <a:outerShdw blurRad="19685" dist="6350" dir="12900000" algn="tl" rotWithShape="0">
              <a:srgbClr val="000000">
                <a:alpha val="4666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9" name="Google Shape;99;p22"/>
          <p:cNvSpPr/>
          <p:nvPr/>
        </p:nvSpPr>
        <p:spPr>
          <a:xfrm rot="10800000" flipH="1">
            <a:off x="-9525" y="4362450"/>
            <a:ext cx="9163050" cy="78105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0" name="Google Shape;100;p22"/>
          <p:cNvSpPr/>
          <p:nvPr/>
        </p:nvSpPr>
        <p:spPr>
          <a:xfrm rot="10800000" flipH="1">
            <a:off x="4381500" y="4664869"/>
            <a:ext cx="4762500" cy="478631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1" name="Google Shape;101;p22"/>
          <p:cNvSpPr txBox="1">
            <a:spLocks noGrp="1"/>
          </p:cNvSpPr>
          <p:nvPr>
            <p:ph type="title"/>
          </p:nvPr>
        </p:nvSpPr>
        <p:spPr>
          <a:xfrm>
            <a:off x="609600" y="882747"/>
            <a:ext cx="2212848" cy="1186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 panose="020B0604020202020204"/>
              <a:buNone/>
              <a:defRPr sz="2000" b="1">
                <a:solidFill>
                  <a:schemeClr val="dk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2"/>
          <p:cNvSpPr txBox="1">
            <a:spLocks noGrp="1"/>
          </p:cNvSpPr>
          <p:nvPr>
            <p:ph type="body" idx="1"/>
          </p:nvPr>
        </p:nvSpPr>
        <p:spPr>
          <a:xfrm>
            <a:off x="609600" y="2121589"/>
            <a:ext cx="2209800" cy="1634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000" tIns="45700" rIns="45700" bIns="45700" anchor="t" anchorCtr="0">
            <a:noAutofit/>
          </a:bodyPr>
          <a:lstStyle>
            <a:lvl1pPr marL="457200" lvl="0" indent="-228600" algn="l"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040"/>
              <a:buFont typeface="Arial" panose="020B0604020202020204"/>
              <a:buNone/>
              <a:defRPr sz="1300"/>
            </a:lvl1pPr>
            <a:lvl2pPr marL="914400" lvl="1" indent="-28956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960"/>
              <a:buChar char="⮚"/>
              <a:defRPr sz="1200"/>
            </a:lvl2pPr>
            <a:lvl3pPr marL="1371600" lvl="2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⮚"/>
              <a:defRPr sz="1000"/>
            </a:lvl3pPr>
            <a:lvl4pPr marL="1828800" lvl="3" indent="-27432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Char char="⮚"/>
              <a:defRPr sz="900"/>
            </a:lvl4pPr>
            <a:lvl5pPr marL="2286000" lvl="4" indent="-27432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Char char="⮚"/>
              <a:defRPr sz="900"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22"/>
          <p:cNvSpPr>
            <a:spLocks noGrp="1"/>
          </p:cNvSpPr>
          <p:nvPr>
            <p:ph type="pic" idx="2"/>
          </p:nvPr>
        </p:nvSpPr>
        <p:spPr>
          <a:xfrm rot="315686">
            <a:off x="3493306" y="891146"/>
            <a:ext cx="4602693" cy="2965924"/>
          </a:xfrm>
          <a:prstGeom prst="rect">
            <a:avLst/>
          </a:prstGeom>
          <a:solidFill>
            <a:schemeClr val="lt2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04" name="Google Shape;104;p2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2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>
            <a:spLocks noGrp="1"/>
          </p:cNvSpPr>
          <p:nvPr>
            <p:ph type="title"/>
          </p:nvPr>
        </p:nvSpPr>
        <p:spPr>
          <a:xfrm>
            <a:off x="457200" y="52863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3"/>
          <p:cNvSpPr txBox="1">
            <a:spLocks noGrp="1"/>
          </p:cNvSpPr>
          <p:nvPr>
            <p:ph type="body" idx="1"/>
          </p:nvPr>
        </p:nvSpPr>
        <p:spPr>
          <a:xfrm rot="5400000">
            <a:off x="2925961" y="-1017389"/>
            <a:ext cx="3292078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2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3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4"/>
          <p:cNvSpPr txBox="1">
            <a:spLocks noGrp="1"/>
          </p:cNvSpPr>
          <p:nvPr>
            <p:ph type="title"/>
          </p:nvPr>
        </p:nvSpPr>
        <p:spPr>
          <a:xfrm rot="5400000">
            <a:off x="5703689" y="1611512"/>
            <a:ext cx="3908822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4"/>
          <p:cNvSpPr txBox="1">
            <a:spLocks noGrp="1"/>
          </p:cNvSpPr>
          <p:nvPr>
            <p:ph type="body" idx="1"/>
          </p:nvPr>
        </p:nvSpPr>
        <p:spPr>
          <a:xfrm rot="5400000">
            <a:off x="1512689" y="-369688"/>
            <a:ext cx="3908822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4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40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4" name="Google Shape;114;p2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4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5"/>
          <p:cNvSpPr txBox="1">
            <a:spLocks noGrp="1"/>
          </p:cNvSpPr>
          <p:nvPr>
            <p:ph type="title"/>
          </p:nvPr>
        </p:nvSpPr>
        <p:spPr>
          <a:xfrm>
            <a:off x="457200" y="52863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5"/>
          <p:cNvSpPr txBox="1">
            <a:spLocks noGrp="1"/>
          </p:cNvSpPr>
          <p:nvPr>
            <p:ph type="ftr" idx="11"/>
          </p:nvPr>
        </p:nvSpPr>
        <p:spPr>
          <a:xfrm>
            <a:off x="7239000" y="4857750"/>
            <a:ext cx="14478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>
            <a:fillRect/>
          </a:stretch>
        </a:blip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52863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0" b="0" i="0" u="none" strike="noStrike" cap="none">
                <a:solidFill>
                  <a:schemeClr val="dk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0" b="0" i="0" u="none" strike="noStrike" cap="none">
                <a:solidFill>
                  <a:schemeClr val="dk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0" b="0" i="0" u="none" strike="noStrike" cap="none">
                <a:solidFill>
                  <a:schemeClr val="dk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0" b="0" i="0" u="none" strike="noStrike" cap="none">
                <a:solidFill>
                  <a:schemeClr val="dk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451372"/>
            <a:ext cx="8229600" cy="3292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302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302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302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302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20040" algn="l" rtl="0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09880" algn="l" rtl="0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 panose="020B0604020202020204"/>
              <a:buChar char="•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spcBef>
                <a:spcPts val="28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tile tx="0" ty="0" sx="99996" sy="80002" flip="none" algn="tl"/>
        </a:blip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/>
          <p:nvPr/>
        </p:nvSpPr>
        <p:spPr>
          <a:xfrm>
            <a:off x="2631440" y="229235"/>
            <a:ext cx="6108065" cy="1630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2400"/>
              <a:buFont typeface="Times New Roman" panose="02020603050405020304"/>
              <a:buNone/>
            </a:pPr>
            <a:r>
              <a:rPr lang="en-GB" sz="2400" b="1" i="0" u="none" strike="noStrike" cap="none" dirty="0">
                <a:solidFill>
                  <a:srgbClr val="0000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KONGU ENGINEERING COLLEGE</a:t>
            </a:r>
            <a:r>
              <a:rPr lang="en-GB" sz="1800" b="1" i="0" u="none" strike="noStrike" cap="none" dirty="0">
                <a:solidFill>
                  <a:schemeClr val="accent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endParaRPr sz="1800" b="0" i="0" u="none" strike="noStrike" cap="none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46321"/>
              </a:buClr>
              <a:buSzPts val="1200"/>
              <a:buFont typeface="Times New Roman" panose="02020603050405020304"/>
              <a:buNone/>
            </a:pPr>
            <a:r>
              <a:rPr lang="en-GB" sz="1200" b="1" i="0" u="none" strike="noStrike" cap="none" dirty="0">
                <a:solidFill>
                  <a:srgbClr val="5463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PERUNDURAI ERODE-638060</a:t>
            </a:r>
            <a:endParaRPr sz="1050" b="1" i="0" u="none" strike="noStrike" cap="none" dirty="0">
              <a:solidFill>
                <a:schemeClr val="accent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2400"/>
              <a:buFont typeface="Times New Roman" panose="02020603050405020304"/>
              <a:buNone/>
            </a:pPr>
            <a:r>
              <a:rPr lang="en-GB" sz="2400" b="1" dirty="0">
                <a:solidFill>
                  <a:srgbClr val="0000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COMPUTER SCIENCE &amp; ENGINEERING</a:t>
            </a:r>
            <a:endParaRPr sz="1800" b="0" i="0" u="none" strike="noStrike" cap="none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algn="ctr">
              <a:spcBef>
                <a:spcPts val="600"/>
              </a:spcBef>
              <a:buClr>
                <a:srgbClr val="FF0000"/>
              </a:buClr>
              <a:buSzPts val="1800"/>
            </a:pPr>
            <a:endParaRPr sz="1800" b="1" i="0" u="none" strike="noStrike" cap="none" dirty="0">
              <a:solidFill>
                <a:srgbClr val="FF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lvl="0" algn="ctr">
              <a:buClr>
                <a:srgbClr val="FF0000"/>
              </a:buClr>
              <a:buSzPts val="20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sz="1800" b="1" dirty="0">
              <a:solidFill>
                <a:srgbClr val="00B050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pic>
        <p:nvPicPr>
          <p:cNvPr id="136" name="Google Shape;136;p26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-62230"/>
            <a:ext cx="781685" cy="9531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6" descr="G:\TBI\TBI@KEC Logos\K Transform\6-5x4 product centre.jpg"/>
          <p:cNvPicPr preferRelativeResize="0"/>
          <p:nvPr/>
        </p:nvPicPr>
        <p:blipFill rotWithShape="1">
          <a:blip r:embed="rId5"/>
          <a:srcRect l="4960"/>
          <a:stretch>
            <a:fillRect/>
          </a:stretch>
        </p:blipFill>
        <p:spPr>
          <a:xfrm>
            <a:off x="781685" y="808990"/>
            <a:ext cx="1423670" cy="9772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Box 5"/>
          <p:cNvSpPr txBox="1"/>
          <p:nvPr/>
        </p:nvSpPr>
        <p:spPr>
          <a:xfrm>
            <a:off x="1837690" y="2036445"/>
            <a:ext cx="6000750" cy="1198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>
              <a:lnSpc>
                <a:spcPct val="150000"/>
              </a:lnSpc>
              <a:buFont typeface="Wingdings" panose="05000000000000000000" charset="0"/>
              <a:buNone/>
            </a:pPr>
            <a:r>
              <a:rPr lang="en-IN" altLang="en-US" sz="1600" b="1" dirty="0">
                <a:sym typeface="+mn-ea"/>
              </a:rPr>
              <a:t>PROJECT TITLE: </a:t>
            </a:r>
            <a:r>
              <a:rPr lang="en-IN" altLang="en-US" sz="1600" dirty="0">
                <a:sym typeface="+mn-ea"/>
              </a:rPr>
              <a:t>  </a:t>
            </a:r>
            <a:r>
              <a:rPr lang="en-IN" altLang="en-US" sz="1600" b="1" dirty="0"/>
              <a:t>A Resource Efficient Transfer Learning 		Framework For Real Time Driver 			Distraction detection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1964690" y="3362325"/>
            <a:ext cx="6000750" cy="15240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>
              <a:lnSpc>
                <a:spcPct val="150000"/>
              </a:lnSpc>
              <a:buFont typeface="Wingdings" panose="05000000000000000000" charset="0"/>
              <a:buNone/>
            </a:pPr>
            <a:r>
              <a:rPr lang="en-IN" altLang="en-US" sz="1600" b="1" dirty="0"/>
              <a:t>    TEAM : B20</a:t>
            </a:r>
          </a:p>
          <a:p>
            <a:pPr marL="0" indent="0" algn="l">
              <a:lnSpc>
                <a:spcPct val="150000"/>
              </a:lnSpc>
              <a:buFont typeface="Wingdings" panose="05000000000000000000" charset="0"/>
              <a:buNone/>
            </a:pPr>
            <a:r>
              <a:rPr lang="en-IN" altLang="en-US" sz="1600" b="1" dirty="0"/>
              <a:t>         HARI KIRUTHIK G R (23CSR071</a:t>
            </a:r>
          </a:p>
          <a:p>
            <a:pPr marL="0" indent="0" algn="l">
              <a:lnSpc>
                <a:spcPct val="150000"/>
              </a:lnSpc>
              <a:buFont typeface="Wingdings" panose="05000000000000000000" charset="0"/>
              <a:buNone/>
            </a:pPr>
            <a:r>
              <a:rPr lang="en-IN" altLang="en-US" sz="1600" b="1" dirty="0"/>
              <a:t>         JAYARAJ M (23CSR090)</a:t>
            </a:r>
          </a:p>
          <a:p>
            <a:pPr marL="0" indent="0" algn="l">
              <a:lnSpc>
                <a:spcPct val="150000"/>
              </a:lnSpc>
              <a:buFont typeface="Wingdings" panose="05000000000000000000" charset="0"/>
              <a:buNone/>
            </a:pPr>
            <a:r>
              <a:rPr lang="en-IN" altLang="en-US" sz="1600" b="1" dirty="0"/>
              <a:t>         KIRUTHICK B (23CSR112)</a:t>
            </a: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5D00175A-F062-3274-8210-F28D1477964A}"/>
              </a:ext>
            </a:extLst>
          </p:cNvPr>
          <p:cNvSpPr txBox="1"/>
          <p:nvPr/>
        </p:nvSpPr>
        <p:spPr>
          <a:xfrm>
            <a:off x="5880174" y="3784263"/>
            <a:ext cx="600075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>
              <a:lnSpc>
                <a:spcPct val="150000"/>
              </a:lnSpc>
              <a:buFont typeface="Wingdings" panose="05000000000000000000" charset="0"/>
              <a:buNone/>
            </a:pPr>
            <a:r>
              <a:rPr lang="en-IN" altLang="en-US" sz="1600" b="1" dirty="0"/>
              <a:t>    Mentor</a:t>
            </a:r>
          </a:p>
          <a:p>
            <a:pPr marL="0" indent="0" algn="l">
              <a:buFont typeface="Wingdings" panose="05000000000000000000" charset="0"/>
              <a:buNone/>
            </a:pPr>
            <a:r>
              <a:rPr lang="en-IN" altLang="en-US" sz="1600" b="1" dirty="0"/>
              <a:t>         R.S. </a:t>
            </a:r>
            <a:r>
              <a:rPr lang="en-IN" altLang="en-US" sz="1600" b="1" dirty="0" err="1"/>
              <a:t>Shudapreyaa</a:t>
            </a:r>
            <a:endParaRPr lang="en-IN" altLang="en-US" sz="1600" b="1" dirty="0"/>
          </a:p>
          <a:p>
            <a:pPr marL="0" indent="0" algn="l">
              <a:buFont typeface="Wingdings" panose="05000000000000000000" charset="0"/>
              <a:buNone/>
            </a:pPr>
            <a:r>
              <a:rPr lang="en-IN" altLang="en-US" sz="1600" b="1" dirty="0"/>
              <a:t>         Assistant Professor CSE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body" idx="1"/>
          </p:nvPr>
        </p:nvSpPr>
        <p:spPr>
          <a:xfrm>
            <a:off x="655955" y="1023620"/>
            <a:ext cx="8343265" cy="3750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37160" indent="0" algn="just">
              <a:lnSpc>
                <a:spcPct val="150000"/>
              </a:lnSpc>
              <a:buNone/>
            </a:pPr>
            <a:r>
              <a:rPr lang="en-IN" sz="1400" dirty="0"/>
              <a:t>Driver distraction is a leading cause of road accidents, however existing AI-based driver monitoring systems requires high-end GPUs, making them unsuitable for real-time distraction detection in a  resource constrained environment due to the limited memory and processing power available.</a:t>
            </a:r>
            <a:endParaRPr lang="en-US" altLang="en-US" sz="1400" dirty="0"/>
          </a:p>
        </p:txBody>
      </p:sp>
      <p:pic>
        <p:nvPicPr>
          <p:cNvPr id="146" name="Google Shape;146;p27" descr="kec2blackborder png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0134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17905" y="391795"/>
            <a:ext cx="4170045" cy="483870"/>
          </a:xfrm>
        </p:spPr>
        <p:txBody>
          <a:bodyPr/>
          <a:lstStyle/>
          <a:p>
            <a:pPr marL="0" indent="0"/>
            <a:r>
              <a:rPr lang="en-US" sz="1800" b="1" dirty="0">
                <a:solidFill>
                  <a:srgbClr val="0070C0"/>
                </a:solidFill>
              </a:rPr>
              <a:t> </a:t>
            </a:r>
            <a:br>
              <a:rPr lang="en-US" sz="1800" b="1" dirty="0"/>
            </a:br>
            <a:br>
              <a:rPr lang="en-US" sz="1800" dirty="0"/>
            </a:br>
            <a:r>
              <a:rPr lang="en-US" sz="1800" b="1" dirty="0">
                <a:solidFill>
                  <a:srgbClr val="0070C0"/>
                </a:solidFill>
              </a:rPr>
              <a:t>Problem statement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195" y="414020"/>
            <a:ext cx="4870450" cy="857250"/>
          </a:xfrm>
        </p:spPr>
        <p:txBody>
          <a:bodyPr/>
          <a:lstStyle/>
          <a:p>
            <a:r>
              <a:rPr lang="en-US" altLang="en-US">
                <a:sym typeface="+mn-ea"/>
              </a:rPr>
              <a:t>Objectives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7055" y="1451610"/>
            <a:ext cx="7840965" cy="2853690"/>
          </a:xfrm>
        </p:spPr>
        <p:txBody>
          <a:bodyPr/>
          <a:lstStyle/>
          <a:p>
            <a:pPr marL="137160" indent="0">
              <a:lnSpc>
                <a:spcPct val="150000"/>
              </a:lnSpc>
              <a:buNone/>
            </a:pPr>
            <a:r>
              <a:rPr lang="en-IN" sz="1400" dirty="0"/>
              <a:t>Design and deploy a </a:t>
            </a:r>
            <a:r>
              <a:rPr lang="en-IN" sz="1400" dirty="0" err="1"/>
              <a:t>TinyML</a:t>
            </a:r>
            <a:r>
              <a:rPr lang="en-IN" sz="1400" dirty="0"/>
              <a:t>-based driver distraction detection system on the resource constrained system using TensorFlow Lite Micro with reduced input sizes and Optimize memory consumption and inference latency to achieve real-time edge inference without high-end GPUs.</a:t>
            </a:r>
            <a:endParaRPr lang="en-US" altLang="en-US" sz="1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 l="1839" b="8835"/>
          <a:stretch>
            <a:fillRect/>
          </a:stretch>
        </p:blipFill>
        <p:spPr>
          <a:xfrm rot="17580000">
            <a:off x="1447800" y="3649980"/>
            <a:ext cx="542290" cy="178879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 l="1839" b="8835"/>
          <a:stretch>
            <a:fillRect/>
          </a:stretch>
        </p:blipFill>
        <p:spPr>
          <a:xfrm rot="7020000">
            <a:off x="7378065" y="-222250"/>
            <a:ext cx="542290" cy="1788795"/>
          </a:xfrm>
          <a:prstGeom prst="rect">
            <a:avLst/>
          </a:prstGeom>
        </p:spPr>
      </p:pic>
      <p:pic>
        <p:nvPicPr>
          <p:cNvPr id="146" name="Google Shape;146;p27" descr="kec2blackborder png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01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0"/>
            <a:ext cx="655955" cy="60134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814F137-F11D-0CDF-AFA2-DFCF1C81B7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7589621"/>
              </p:ext>
            </p:extLst>
          </p:nvPr>
        </p:nvGraphicFramePr>
        <p:xfrm>
          <a:off x="655955" y="528320"/>
          <a:ext cx="8396275" cy="4553693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27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57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82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22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8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19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5555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000" dirty="0"/>
                        <a:t>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000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000" dirty="0"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000" dirty="0"/>
                        <a:t>Method /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000"/>
                        <a:t>Dataset / 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00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000"/>
                        <a:t>Latency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499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Springer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Tiny deep learning models for real-time and efficient embedded driver state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Efficient-Tiny, MCUNet, Micro-</a:t>
                      </a:r>
                      <a:r>
                        <a:rPr sz="700" dirty="0" err="1"/>
                        <a:t>MobileNet</a:t>
                      </a:r>
                      <a:r>
                        <a:rPr sz="700" dirty="0"/>
                        <a:t>, SqueezeNetv11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 err="1"/>
                        <a:t>StateFarm</a:t>
                      </a:r>
                      <a:r>
                        <a:rPr lang="en-US" sz="700" dirty="0"/>
                        <a:t> / no external hardware </a:t>
                      </a:r>
                      <a:endParaRPr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95.81%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28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78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Springer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USH: an efficient real-time distracted driving detection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USH (lightweight hybrid CNN + Single-Head Self-Attention)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 err="1"/>
                        <a:t>StateFarm</a:t>
                      </a:r>
                      <a:r>
                        <a:rPr lang="en-US" sz="700" dirty="0"/>
                        <a:t> / NVIDIA RTX3060Ti  16 GB RAM</a:t>
                      </a:r>
                      <a:endParaRPr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9</a:t>
                      </a:r>
                      <a:r>
                        <a:rPr lang="en-US" sz="700" dirty="0"/>
                        <a:t>6</a:t>
                      </a:r>
                      <a:r>
                        <a:rPr sz="700" dirty="0"/>
                        <a:t>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4.7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308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Springer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FAN-YOLO: Real-time driver behavior detection based on full-layer aggregation network of YOLO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FAN-YOLO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State Farm v2, </a:t>
                      </a:r>
                      <a:r>
                        <a:rPr sz="700" dirty="0" err="1"/>
                        <a:t>YawDD</a:t>
                      </a:r>
                      <a:r>
                        <a:rPr sz="700" dirty="0"/>
                        <a:t> v2</a:t>
                      </a:r>
                      <a:r>
                        <a:rPr lang="en-US" sz="700" dirty="0"/>
                        <a:t> /</a:t>
                      </a:r>
                    </a:p>
                    <a:p>
                      <a:pPr>
                        <a:defRPr sz="900"/>
                      </a:pPr>
                      <a:r>
                        <a:rPr lang="en-IN" sz="700" dirty="0"/>
                        <a:t>NVIDIA 4090, 80 GB memory</a:t>
                      </a:r>
                      <a:endParaRPr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AP50: 86.8%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1.9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99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IEEE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Research on Transfer Learning-Based Framework for Real-Time Driver Distraction Detection on Edge 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VGG16 Transfer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State Farm; Docker</a:t>
                      </a:r>
                      <a:r>
                        <a:rPr lang="en-US" sz="700" dirty="0"/>
                        <a:t>/</a:t>
                      </a:r>
                    </a:p>
                    <a:p>
                      <a:pPr>
                        <a:defRPr sz="900"/>
                      </a:pPr>
                      <a:r>
                        <a:rPr lang="en-US" sz="700" dirty="0"/>
                        <a:t>Intel i7, Nvidia 1060 16 GB ram</a:t>
                      </a:r>
                      <a:endParaRPr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95.54% validation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&gt;150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499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Nature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Integrated Deep Learning Framework for Driver Distraction Detection and Real-Time Road Object Recognition in 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CNN + YOLO + </a:t>
                      </a:r>
                      <a:r>
                        <a:rPr sz="700" dirty="0" err="1"/>
                        <a:t>TensorRT</a:t>
                      </a:r>
                      <a:r>
                        <a:rPr sz="700" dirty="0"/>
                        <a:t> INT8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State Farm + KITTI + MS COCO, NVIDIA Jetson Xavier 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0.915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39 </a:t>
                      </a:r>
                      <a:r>
                        <a:rPr sz="700" dirty="0" err="1"/>
                        <a:t>ms</a:t>
                      </a:r>
                      <a:endParaRPr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308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Elsevier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An Efficient Temporal Attention Framework for Real-Time Detection of Unsafe Driver Behaviors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ATFE (Attention-Guided Temporal Feature Extraction)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Benchmark driver behavior datasets</a:t>
                      </a:r>
                      <a:r>
                        <a:rPr lang="en-US" sz="700" dirty="0"/>
                        <a:t> </a:t>
                      </a:r>
                      <a:endParaRPr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0.985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12.8 </a:t>
                      </a:r>
                      <a:r>
                        <a:rPr sz="700" dirty="0" err="1"/>
                        <a:t>ms</a:t>
                      </a:r>
                      <a:endParaRPr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635256"/>
                  </a:ext>
                </a:extLst>
              </a:tr>
              <a:tr h="38078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ASCE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Real-Time Distracted Driving Detection Based on GM-YOLOv8 on Embedded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GM-YOLOv8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Driver distraction dataset/ NVIDIA Jetson AGX Orin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0.978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33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113158"/>
                  </a:ext>
                </a:extLst>
              </a:tr>
              <a:tr h="46499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IEICE Transactions on Information and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YOLOv10n-BC: A Novel Real-Time Object Detection Model for Driver Distracted Driving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YOLOv10n + BiFPN + CASSA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CBTDDD Dataset/ NVIDIA RTX 4090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mAP@0.5 improved by 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115.3 FPS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2330577"/>
                  </a:ext>
                </a:extLst>
              </a:tr>
              <a:tr h="46499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Elsevier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A Lightweight Model for Distracted Driver Detection Based on Neural Architecture Search and Coordinate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CCNET (Neural Architecture Search + Coordinate Attention)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State Farm, AUC Distracted Driver/ NVIDIA Jetson Nano B01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0.9552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54 FPS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819460"/>
                  </a:ext>
                </a:extLst>
              </a:tr>
              <a:tr h="38078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IEEE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Deep Learning-Based Real-Time Driver Cognitive Distraction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Temporal Deep Learning Network (CNN + Temporal Modeling)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Driver cognitive distraction datasets/ NVIDIA RTX 3090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/>
                        <a:t>0.974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rPr sz="700" dirty="0"/>
                        <a:t>22 </a:t>
                      </a:r>
                      <a:r>
                        <a:rPr sz="700" dirty="0" err="1"/>
                        <a:t>ms</a:t>
                      </a:r>
                      <a:endParaRPr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760408"/>
                  </a:ext>
                </a:extLst>
              </a:tr>
            </a:tbl>
          </a:graphicData>
        </a:graphic>
      </p:graphicFrame>
      <p:sp>
        <p:nvSpPr>
          <p:cNvPr id="9" name="Title 3">
            <a:extLst>
              <a:ext uri="{FF2B5EF4-FFF2-40B4-BE49-F238E27FC236}">
                <a16:creationId xmlns:a16="http://schemas.microsoft.com/office/drawing/2014/main" id="{4428CAF1-6772-FAA2-0CCC-5D2B807EC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6995" y="-77470"/>
            <a:ext cx="3477895" cy="483870"/>
          </a:xfrm>
        </p:spPr>
        <p:txBody>
          <a:bodyPr/>
          <a:lstStyle/>
          <a:p>
            <a:pPr marL="0" indent="0"/>
            <a:r>
              <a:rPr lang="en-US" sz="1800" b="1" dirty="0">
                <a:solidFill>
                  <a:srgbClr val="0070C0"/>
                </a:solidFill>
              </a:rPr>
              <a:t>Literature Survey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body" idx="1"/>
          </p:nvPr>
        </p:nvSpPr>
        <p:spPr>
          <a:xfrm>
            <a:off x="889635" y="1097597"/>
            <a:ext cx="6560820" cy="29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/>
              <a:t>Limited deployment on resource-constrained edge devices, most studies target GPUs or high-performance embedded platforms.</a:t>
            </a:r>
            <a:endParaRPr lang="en-US" altLang="en-US" sz="1400" dirty="0"/>
          </a:p>
          <a:p>
            <a:pPr algn="just">
              <a:lnSpc>
                <a:spcPct val="150000"/>
              </a:lnSpc>
            </a:pPr>
            <a:r>
              <a:rPr lang="en-US" sz="1400" dirty="0"/>
              <a:t>Knowledge distillation, quantization, and </a:t>
            </a:r>
            <a:r>
              <a:rPr lang="en-US" sz="1400" dirty="0" err="1"/>
              <a:t>TensorFlowLite</a:t>
            </a:r>
            <a:r>
              <a:rPr lang="en-US" sz="1400" dirty="0"/>
              <a:t> Micro are rarely integrated into a unified </a:t>
            </a:r>
            <a:r>
              <a:rPr lang="en-US" sz="1400" dirty="0" err="1"/>
              <a:t>TinyML</a:t>
            </a:r>
            <a:r>
              <a:rPr lang="en-US" sz="1400" dirty="0"/>
              <a:t> pipeline</a:t>
            </a:r>
            <a:r>
              <a:rPr lang="en-US" altLang="en-US" sz="14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1400" dirty="0"/>
              <a:t>Existing work emphasizes accuracy/FPS but provides limited analysis of runtime memory, tensor arena, and memory–accuracy trade-offs</a:t>
            </a:r>
            <a:r>
              <a:rPr lang="en-US" altLang="en-US" sz="14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1400" dirty="0"/>
              <a:t>Few studies compare different input resolutions and optimized models to identify the most efficient configuration for real-time edge inference</a:t>
            </a:r>
            <a:r>
              <a:rPr lang="en-US" altLang="en-US" sz="1400" dirty="0"/>
              <a:t>s.</a:t>
            </a:r>
          </a:p>
        </p:txBody>
      </p:sp>
      <p:pic>
        <p:nvPicPr>
          <p:cNvPr id="146" name="Google Shape;146;p27" descr="kec2blackborder png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343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89635" y="446405"/>
            <a:ext cx="3477895" cy="483870"/>
          </a:xfrm>
        </p:spPr>
        <p:txBody>
          <a:bodyPr/>
          <a:lstStyle/>
          <a:p>
            <a:pPr marL="0" indent="0"/>
            <a:r>
              <a:rPr lang="en-US" sz="2400" b="1" dirty="0">
                <a:solidFill>
                  <a:srgbClr val="0070C0"/>
                </a:solidFill>
              </a:rPr>
              <a:t>Research Gap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4100000">
            <a:off x="7985125" y="-159385"/>
            <a:ext cx="542290" cy="178879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20040000">
            <a:off x="7581265" y="3326765"/>
            <a:ext cx="542290" cy="17887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body" idx="1"/>
          </p:nvPr>
        </p:nvSpPr>
        <p:spPr>
          <a:xfrm>
            <a:off x="414655" y="1023620"/>
            <a:ext cx="5266055" cy="3426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7500" lnSpcReduction="10000"/>
          </a:bodyPr>
          <a:lstStyle/>
          <a:p>
            <a:pPr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sz="1400" dirty="0"/>
              <a:t>Proposes a teacher–student knowledge distillation framework for compact </a:t>
            </a:r>
            <a:r>
              <a:rPr lang="en-US" sz="1400" dirty="0" err="1"/>
              <a:t>TinyML</a:t>
            </a:r>
            <a:r>
              <a:rPr lang="en-US" sz="1400" dirty="0"/>
              <a:t> models </a:t>
            </a:r>
            <a:r>
              <a:rPr lang="en-US" altLang="en-US" sz="1400" dirty="0"/>
              <a:t>Runs entirely on the ESP32 microcontroller without cloud support.</a:t>
            </a:r>
          </a:p>
          <a:p>
            <a:pPr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sz="1400" dirty="0"/>
              <a:t>Combine lightweight CNNs, INT8 quantization, and TensorFlow Lite Micro for efficient embedded inference.</a:t>
            </a:r>
          </a:p>
          <a:p>
            <a:pPr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sz="1400" dirty="0"/>
              <a:t>Reducing the model size allocating minimum required tensor arena, and runtime memory in the chip’s SRAM</a:t>
            </a:r>
          </a:p>
          <a:p>
            <a:pPr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sz="1400" dirty="0"/>
              <a:t>Real-time deployment on resource-constrained microcontroller-based edge devices without high-end GPUs</a:t>
            </a:r>
            <a:endParaRPr lang="en-US" altLang="en-US" sz="1400" dirty="0"/>
          </a:p>
        </p:txBody>
      </p:sp>
      <p:pic>
        <p:nvPicPr>
          <p:cNvPr id="146" name="Google Shape;146;p27" descr="kec2blackborder png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701675" cy="6343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65200" y="474345"/>
            <a:ext cx="3359150" cy="483870"/>
          </a:xfrm>
        </p:spPr>
        <p:txBody>
          <a:bodyPr/>
          <a:lstStyle/>
          <a:p>
            <a:pPr marL="0" indent="0"/>
            <a:r>
              <a:rPr lang="en-IN" sz="1800" b="1" dirty="0"/>
              <a:t>Proposed Solution</a:t>
            </a:r>
            <a:endParaRPr lang="en-US" sz="1800" b="1" dirty="0"/>
          </a:p>
        </p:txBody>
      </p:sp>
      <p:pic>
        <p:nvPicPr>
          <p:cNvPr id="2" name="Picture 1"/>
          <p:cNvPicPr/>
          <p:nvPr/>
        </p:nvPicPr>
        <p:blipFill>
          <a:blip r:embed="rId4"/>
          <a:stretch>
            <a:fillRect/>
          </a:stretch>
        </p:blipFill>
        <p:spPr>
          <a:xfrm>
            <a:off x="5796280" y="0"/>
            <a:ext cx="334772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78FD0CC0-A79A-C4DC-25F2-40AB5F58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>
            <a:extLst>
              <a:ext uri="{FF2B5EF4-FFF2-40B4-BE49-F238E27FC236}">
                <a16:creationId xmlns:a16="http://schemas.microsoft.com/office/drawing/2014/main" id="{567556F1-ED92-DF27-FF2B-3D838B1E985C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701675" cy="634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3F932-F243-9403-BE93-7B569130A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988" y="634365"/>
            <a:ext cx="7528699" cy="4106563"/>
          </a:xfrm>
          <a:prstGeom prst="rect">
            <a:avLst/>
          </a:prstGeom>
        </p:spPr>
      </p:pic>
      <p:sp>
        <p:nvSpPr>
          <p:cNvPr id="10" name="Title 3">
            <a:extLst>
              <a:ext uri="{FF2B5EF4-FFF2-40B4-BE49-F238E27FC236}">
                <a16:creationId xmlns:a16="http://schemas.microsoft.com/office/drawing/2014/main" id="{BBC7F92D-994D-B57F-85C3-FB57D21EE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6224" y="75247"/>
            <a:ext cx="1488069" cy="483870"/>
          </a:xfrm>
        </p:spPr>
        <p:txBody>
          <a:bodyPr/>
          <a:lstStyle/>
          <a:p>
            <a:pPr marL="0" indent="0"/>
            <a:r>
              <a:rPr lang="en-US" sz="1800" b="1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397254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0030" y="53190"/>
            <a:ext cx="8661654" cy="3462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 b="1">
                <a:solidFill>
                  <a:srgbClr val="1F4E79"/>
                </a:solidFill>
              </a:defRPr>
            </a:pPr>
            <a:r>
              <a:rPr sz="1650"/>
              <a:t>Knowledge Distillation Architecture: Teacher to TinyML Student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8610" y="356123"/>
            <a:ext cx="8503920" cy="2135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0">
                <a:solidFill>
                  <a:srgbClr val="4B5563"/>
                </a:solidFill>
              </a:defRPr>
            </a:pPr>
            <a:r>
              <a:rPr sz="788"/>
              <a:t>Objective: compress high-capacity driver-distraction teachers into a microcontroller-ready INT8 student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862" y="627014"/>
            <a:ext cx="2060467" cy="2423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rPr sz="975"/>
              <a:t>Teacher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4590" y="627014"/>
            <a:ext cx="2484680" cy="2423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rPr sz="975"/>
              <a:t>Distillation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62629" y="627014"/>
            <a:ext cx="2636185" cy="2423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rPr sz="975"/>
              <a:t>Student Model Changes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968" y="973184"/>
            <a:ext cx="2151370" cy="682905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sz="825"/>
              <a:t>High-capacity teacher</a:t>
            </a:r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630"/>
              <a:t>TFLite teacher candidates</a:t>
            </a:r>
            <a:br>
              <a:rPr sz="630"/>
            </a:br>
            <a:r>
              <a:rPr sz="630"/>
              <a:t>MobileNetV3 Small / EfficientNetB0</a:t>
            </a:r>
            <a:br>
              <a:rPr sz="630"/>
            </a:br>
            <a:r>
              <a:rPr sz="630"/>
              <a:t>ResNet50 / ConvNeXt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8756" y="1863592"/>
            <a:ext cx="1708976" cy="495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sz="825"/>
              <a:t>Teacher input</a:t>
            </a:r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630"/>
              <a:t>224 x 224 x 3 RGB</a:t>
            </a:r>
            <a:br>
              <a:rPr sz="630"/>
            </a:br>
            <a:r>
              <a:rPr sz="630"/>
              <a:t>ImageNet-style preprocessing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8756" y="2619757"/>
            <a:ext cx="1708976" cy="543907"/>
          </a:xfrm>
          <a:prstGeom prst="roundRect">
            <a:avLst/>
          </a:prstGeom>
          <a:solidFill>
            <a:srgbClr val="FEF9C3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sz="825" dirty="0"/>
              <a:t>Soft labels</a:t>
            </a:r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630" dirty="0"/>
              <a:t>Teacher outputs 10-class probability vector</a:t>
            </a:r>
            <a:br>
              <a:rPr sz="630" dirty="0"/>
            </a:br>
            <a:r>
              <a:rPr sz="630" dirty="0"/>
              <a:t>Stored as cached .</a:t>
            </a:r>
            <a:r>
              <a:rPr sz="630" dirty="0" err="1"/>
              <a:t>npy</a:t>
            </a:r>
            <a:r>
              <a:rPr sz="630" dirty="0"/>
              <a:t> files</a:t>
            </a:r>
          </a:p>
        </p:txBody>
      </p:sp>
      <p:cxnSp>
        <p:nvCxnSpPr>
          <p:cNvPr id="10" name="Connector 9"/>
          <p:cNvCxnSpPr>
            <a:cxnSpLocks/>
          </p:cNvCxnSpPr>
          <p:nvPr/>
        </p:nvCxnSpPr>
        <p:spPr>
          <a:xfrm>
            <a:off x="1453896" y="1656089"/>
            <a:ext cx="0" cy="207503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</p:cNvCxnSpPr>
          <p:nvPr/>
        </p:nvCxnSpPr>
        <p:spPr>
          <a:xfrm>
            <a:off x="1453896" y="2378702"/>
            <a:ext cx="0" cy="193048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29072" y="992626"/>
            <a:ext cx="1151437" cy="49556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lang="en-IN" sz="825" b="1" dirty="0"/>
              <a:t>Depth wise-separable CNN</a:t>
            </a:r>
            <a:endParaRPr lang="en-IN" sz="825" dirty="0"/>
          </a:p>
        </p:txBody>
      </p:sp>
      <p:sp>
        <p:nvSpPr>
          <p:cNvPr id="13" name="Rounded Rectangle 12"/>
          <p:cNvSpPr/>
          <p:nvPr/>
        </p:nvSpPr>
        <p:spPr>
          <a:xfrm>
            <a:off x="4369252" y="992625"/>
            <a:ext cx="1151437" cy="552267"/>
          </a:xfrm>
          <a:prstGeom prst="roundRect">
            <a:avLst/>
          </a:prstGeom>
          <a:solidFill>
            <a:srgbClr val="FEF9C3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lang="en-IN" sz="825" b="1" dirty="0"/>
              <a:t>response-based knowledge distillation</a:t>
            </a:r>
            <a:endParaRPr sz="825" dirty="0"/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630" dirty="0"/>
              <a:t>KL divergence</a:t>
            </a:r>
            <a:br>
              <a:rPr sz="630" dirty="0"/>
            </a:br>
            <a:r>
              <a:rPr sz="630" dirty="0"/>
              <a:t>with temperature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4481" y="1830248"/>
            <a:ext cx="2060467" cy="60434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sz="1200" dirty="0"/>
              <a:t>Combined distillation loss</a:t>
            </a:r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788" dirty="0"/>
              <a:t>Loss = alpha * CE(hard labels)</a:t>
            </a:r>
            <a:br>
              <a:rPr sz="788" dirty="0"/>
            </a:br>
            <a:r>
              <a:rPr sz="788" dirty="0"/>
              <a:t>+ (1 - alpha) * KL(teacher || student) * T^2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4481" y="2727700"/>
            <a:ext cx="2060467" cy="4955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sz="825"/>
              <a:t>Caching strategy</a:t>
            </a:r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630"/>
              <a:t>Teacher probabilities cached once</a:t>
            </a:r>
            <a:br>
              <a:rPr sz="630"/>
            </a:br>
            <a:r>
              <a:rPr sz="630"/>
              <a:t>then reused every student epoch</a:t>
            </a:r>
          </a:p>
        </p:txBody>
      </p:sp>
      <p:cxnSp>
        <p:nvCxnSpPr>
          <p:cNvPr id="16" name="Connector 15"/>
          <p:cNvCxnSpPr>
            <a:cxnSpLocks/>
          </p:cNvCxnSpPr>
          <p:nvPr/>
        </p:nvCxnSpPr>
        <p:spPr>
          <a:xfrm>
            <a:off x="3464901" y="1519140"/>
            <a:ext cx="326514" cy="277656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cxnSpLocks/>
            <a:stCxn id="13" idx="2"/>
          </p:cNvCxnSpPr>
          <p:nvPr/>
        </p:nvCxnSpPr>
        <p:spPr>
          <a:xfrm flipH="1">
            <a:off x="4467922" y="1544892"/>
            <a:ext cx="477049" cy="285355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4149090" y="2461471"/>
            <a:ext cx="0" cy="256874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50031" y="942782"/>
            <a:ext cx="2696788" cy="634558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sz="825"/>
              <a:t>Tiny depthwise-separable CNN</a:t>
            </a:r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630"/>
              <a:t>Input: 96 x 96 x 3 RGB</a:t>
            </a:r>
            <a:br>
              <a:rPr sz="630"/>
            </a:br>
            <a:r>
              <a:rPr sz="630"/>
              <a:t>Width multiplier: 10</a:t>
            </a:r>
            <a:br>
              <a:rPr sz="630"/>
            </a:br>
            <a:r>
              <a:rPr sz="630"/>
              <a:t>Output: 10 logits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031" y="1843888"/>
            <a:ext cx="2696788" cy="8581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sz="825"/>
              <a:t>Layer changes for MCU deployment</a:t>
            </a:r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630"/>
              <a:t>Conv2D(10, 3x3) + MaxPool</a:t>
            </a:r>
            <a:br>
              <a:rPr sz="630"/>
            </a:br>
            <a:r>
              <a:rPr sz="630"/>
              <a:t>[DepthwiseConv2D + 1x1 Conv + MaxPool] x3</a:t>
            </a:r>
            <a:br>
              <a:rPr sz="630"/>
            </a:br>
            <a:r>
              <a:rPr sz="630"/>
              <a:t>DepthwiseConv2D + 1x1 Conv(50)</a:t>
            </a:r>
            <a:br>
              <a:rPr sz="630"/>
            </a:br>
            <a:r>
              <a:rPr sz="630"/>
              <a:t>GlobalAveragePooling + Dropout(0.2) + Dense(10)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0031" y="2906007"/>
            <a:ext cx="2696788" cy="495560"/>
          </a:xfrm>
          <a:prstGeom prst="roundRect">
            <a:avLst/>
          </a:prstGeom>
          <a:solidFill>
            <a:srgbClr val="FEF9C3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rPr sz="825"/>
              <a:t>Deployment conversion</a:t>
            </a:r>
          </a:p>
          <a:p>
            <a:pPr algn="ctr">
              <a:defRPr sz="840">
                <a:solidFill>
                  <a:srgbClr val="111827"/>
                </a:solidFill>
              </a:defRPr>
            </a:pPr>
            <a:r>
              <a:rPr sz="630"/>
              <a:t>Full INT8 TFLite conversion</a:t>
            </a:r>
            <a:br>
              <a:rPr sz="630"/>
            </a:br>
            <a:r>
              <a:rPr sz="630"/>
              <a:t>Representative dataset: first 400 train images</a:t>
            </a:r>
          </a:p>
        </p:txBody>
      </p:sp>
      <p:cxnSp>
        <p:nvCxnSpPr>
          <p:cNvPr id="22" name="Connector 21"/>
          <p:cNvCxnSpPr>
            <a:cxnSpLocks/>
          </p:cNvCxnSpPr>
          <p:nvPr/>
        </p:nvCxnSpPr>
        <p:spPr>
          <a:xfrm>
            <a:off x="7317486" y="1595261"/>
            <a:ext cx="0" cy="132955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cxnSpLocks/>
          </p:cNvCxnSpPr>
          <p:nvPr/>
        </p:nvCxnSpPr>
        <p:spPr>
          <a:xfrm>
            <a:off x="7317486" y="2718345"/>
            <a:ext cx="0" cy="21525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cxnSpLocks/>
            <a:stCxn id="9" idx="3"/>
            <a:endCxn id="15" idx="1"/>
          </p:cNvCxnSpPr>
          <p:nvPr/>
        </p:nvCxnSpPr>
        <p:spPr>
          <a:xfrm>
            <a:off x="2427732" y="2891711"/>
            <a:ext cx="826749" cy="83769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cxnSpLocks/>
          </p:cNvCxnSpPr>
          <p:nvPr/>
        </p:nvCxnSpPr>
        <p:spPr>
          <a:xfrm>
            <a:off x="5314948" y="2136296"/>
            <a:ext cx="835083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5649072"/>
              </p:ext>
            </p:extLst>
          </p:nvPr>
        </p:nvGraphicFramePr>
        <p:xfrm>
          <a:off x="579862" y="3524435"/>
          <a:ext cx="8564138" cy="13668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2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447"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L="68580" marR="68580" marT="34290" marB="3429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Value Used</a:t>
                      </a:r>
                    </a:p>
                  </a:txBody>
                  <a:tcPr marL="68580" marR="68580" marT="34290" marB="3429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FFFFFF"/>
                          </a:solidFill>
                        </a:rPr>
                        <a:t>Why it was used</a:t>
                      </a:r>
                    </a:p>
                  </a:txBody>
                  <a:tcPr marL="68580" marR="68580" marT="34290" marB="34290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903"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111827"/>
                          </a:solidFill>
                        </a:rPr>
                        <a:t>Temperature T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111827"/>
                          </a:solidFill>
                        </a:rPr>
                        <a:t>4.0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11827"/>
                          </a:solidFill>
                        </a:rPr>
                        <a:t>Softens teacher probabilities so class similarity knowledge is transferred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903"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111827"/>
                          </a:solidFill>
                        </a:rPr>
                        <a:t>Alpha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111827"/>
                          </a:solidFill>
                        </a:rPr>
                        <a:t>0.45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111827"/>
                          </a:solidFill>
                        </a:rPr>
                        <a:t>Balances true label CE with teacher KL loss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8903"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111827"/>
                          </a:solidFill>
                        </a:rPr>
                        <a:t>Batch size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111827"/>
                          </a:solidFill>
                        </a:rPr>
                        <a:t>32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111827"/>
                          </a:solidFill>
                        </a:rPr>
                        <a:t>Stable training on laptop while keeping memory manageable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890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11827"/>
                          </a:solidFill>
                        </a:rPr>
                        <a:t>Epochs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60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111827"/>
                          </a:solidFill>
                        </a:rPr>
                        <a:t>Allows student to converge; early stopping prevents overtraining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890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11827"/>
                          </a:solidFill>
                        </a:rPr>
                        <a:t>Learning rate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1e-3 Adam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111827"/>
                          </a:solidFill>
                        </a:rPr>
                        <a:t>Fast training for small CNN student</a:t>
                      </a:r>
                    </a:p>
                  </a:txBody>
                  <a:tcPr marL="27432" marR="27432" marT="6858" marB="685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907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11827"/>
                          </a:solidFill>
                        </a:rPr>
                        <a:t>Validation split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20% driver-wise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111827"/>
                          </a:solidFill>
                        </a:rPr>
                        <a:t>Avoids same-driver leakage between train and validation</a:t>
                      </a:r>
                    </a:p>
                  </a:txBody>
                  <a:tcPr marL="27432" marR="27432" marT="6858" marB="685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1" y="4891304"/>
            <a:ext cx="9143771" cy="28803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788" dirty="0"/>
              <a:t>Distillation type used: Response-based knowledge distillation from teacher soft probabilities + supervised hard-label learning, followed by INT8 quantization for ESP32/RP2040 deployment.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205" y="548005"/>
            <a:ext cx="2371090" cy="433070"/>
          </a:xfrm>
        </p:spPr>
        <p:txBody>
          <a:bodyPr/>
          <a:lstStyle/>
          <a:p>
            <a:r>
              <a:rPr lang="en-IN" altLang="en-US" sz="2400" b="1" dirty="0"/>
              <a:t>flow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1200150" y="1220470"/>
            <a:ext cx="2250440" cy="332398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dirty="0"/>
              <a:t>Driver Image</a:t>
            </a:r>
          </a:p>
          <a:p>
            <a:r>
              <a:rPr lang="en-US" altLang="en-US" dirty="0"/>
              <a:t>      ↓</a:t>
            </a:r>
          </a:p>
          <a:p>
            <a:r>
              <a:rPr lang="en-US" altLang="en-US" dirty="0"/>
              <a:t>Image stored in Flash</a:t>
            </a:r>
          </a:p>
          <a:p>
            <a:r>
              <a:rPr lang="en-US" altLang="en-US" dirty="0"/>
              <a:t>      ↓</a:t>
            </a:r>
          </a:p>
          <a:p>
            <a:r>
              <a:rPr lang="en-US" altLang="en-US" dirty="0"/>
              <a:t>Model boot on Flash</a:t>
            </a:r>
          </a:p>
          <a:p>
            <a:r>
              <a:rPr lang="en-US" altLang="en-US" dirty="0"/>
              <a:t>      ↓</a:t>
            </a:r>
          </a:p>
          <a:p>
            <a:r>
              <a:rPr lang="en-US" altLang="en-US" dirty="0"/>
              <a:t>allocating Tensor Arena</a:t>
            </a:r>
          </a:p>
          <a:p>
            <a:r>
              <a:rPr lang="en-US" altLang="en-US" dirty="0"/>
              <a:t>      </a:t>
            </a:r>
          </a:p>
          <a:p>
            <a:endParaRPr lang="en-US" altLang="en-US" dirty="0"/>
          </a:p>
          <a:p>
            <a:r>
              <a:rPr lang="en-US" altLang="en-US" dirty="0"/>
              <a:t>      </a:t>
            </a:r>
          </a:p>
          <a:p>
            <a:r>
              <a:rPr lang="en-US" altLang="en-US" dirty="0"/>
              <a:t>ESP32 Inference</a:t>
            </a:r>
          </a:p>
          <a:p>
            <a:r>
              <a:rPr lang="en-US" altLang="en-US" dirty="0"/>
              <a:t>      ↓</a:t>
            </a:r>
          </a:p>
          <a:p>
            <a:r>
              <a:rPr lang="en-US" altLang="en-US" dirty="0"/>
              <a:t>Safe Driving / Distracted</a:t>
            </a:r>
          </a:p>
          <a:p>
            <a:r>
              <a:rPr lang="en-US" altLang="en-US" dirty="0"/>
              <a:t>      ↓</a:t>
            </a:r>
          </a:p>
          <a:p>
            <a:r>
              <a:rPr lang="en-US" altLang="en-US" dirty="0"/>
              <a:t>LED Indication</a:t>
            </a:r>
            <a:endParaRPr lang="en-US" dirty="0"/>
          </a:p>
        </p:txBody>
      </p:sp>
      <p:sp>
        <p:nvSpPr>
          <p:cNvPr id="6" name="Text Box 5"/>
          <p:cNvSpPr txBox="1"/>
          <p:nvPr/>
        </p:nvSpPr>
        <p:spPr>
          <a:xfrm>
            <a:off x="4902835" y="1153795"/>
            <a:ext cx="3155950" cy="2353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 Transfer Learning</a:t>
            </a: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 TensorFlow Lite Micro </a:t>
            </a: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 INT8 Quantization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 Tensor Arena Optimization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 </a:t>
            </a:r>
            <a:r>
              <a:rPr lang="en-US" altLang="zh-CN" dirty="0" err="1"/>
              <a:t>PlatformIO</a:t>
            </a:r>
            <a:r>
              <a:rPr lang="en-US" altLang="zh-CN" dirty="0"/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 </a:t>
            </a:r>
            <a:r>
              <a:rPr lang="en-US" altLang="zh-CN" dirty="0" err="1"/>
              <a:t>Wokwi</a:t>
            </a:r>
            <a:r>
              <a:rPr lang="en-US" altLang="zh-CN" dirty="0"/>
              <a:t> Simulation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 ESP32 Deployment </a:t>
            </a: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4902835" y="548005"/>
            <a:ext cx="2371090" cy="433070"/>
          </a:xfrm>
          <a:prstGeom prst="rect">
            <a:avLst/>
          </a:prstGeom>
          <a:noFill/>
          <a:ln>
            <a:noFill/>
          </a:ln>
        </p:spPr>
        <p:txBody>
          <a:bodyPr wrap="square" lIns="0" tIns="4570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3200" b="0" i="0" u="none" strike="noStrike" cap="none">
                <a:solidFill>
                  <a:schemeClr val="accen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5000" b="0" i="0" u="none" strike="noStrike" cap="none">
                <a:solidFill>
                  <a:schemeClr val="dk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5000" b="0" i="0" u="none" strike="noStrike" cap="none">
                <a:solidFill>
                  <a:schemeClr val="dk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5000" b="0" i="0" u="none" strike="noStrike" cap="none">
                <a:solidFill>
                  <a:schemeClr val="dk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5000" b="0" i="0" u="none" strike="noStrike" cap="none">
                <a:solidFill>
                  <a:schemeClr val="dk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r>
              <a:rPr lang="en-US" altLang="en-IN" sz="2400" b="1" dirty="0"/>
              <a:t>Modules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rcRect l="11765" r="3981" b="433"/>
          <a:stretch>
            <a:fillRect/>
          </a:stretch>
        </p:blipFill>
        <p:spPr>
          <a:xfrm>
            <a:off x="3450590" y="1153795"/>
            <a:ext cx="1209675" cy="116776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rcRect l="1839" b="8835"/>
          <a:stretch>
            <a:fillRect/>
          </a:stretch>
        </p:blipFill>
        <p:spPr>
          <a:xfrm rot="18480000">
            <a:off x="7874635" y="3484880"/>
            <a:ext cx="542290" cy="178879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 l="1839" b="8835"/>
          <a:stretch>
            <a:fillRect/>
          </a:stretch>
        </p:blipFill>
        <p:spPr>
          <a:xfrm rot="7020000">
            <a:off x="7826375" y="-222885"/>
            <a:ext cx="542290" cy="1788795"/>
          </a:xfrm>
          <a:prstGeom prst="rect">
            <a:avLst/>
          </a:prstGeom>
        </p:spPr>
      </p:pic>
      <p:pic>
        <p:nvPicPr>
          <p:cNvPr id="146" name="Google Shape;146;p27" descr="kec2blackborder png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0"/>
            <a:ext cx="655955" cy="60134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31FEE6F-8F42-40DA-E979-FC2C117DF4E5}"/>
              </a:ext>
            </a:extLst>
          </p:cNvPr>
          <p:cNvSpPr/>
          <p:nvPr/>
        </p:nvSpPr>
        <p:spPr>
          <a:xfrm>
            <a:off x="3549905" y="2541924"/>
            <a:ext cx="1110360" cy="2501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Insufficient SRAM</a:t>
            </a:r>
            <a:endParaRPr lang="en-IN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02CCE0-5053-354A-4601-FC42E0E458D2}"/>
              </a:ext>
            </a:extLst>
          </p:cNvPr>
          <p:cNvCxnSpPr>
            <a:cxnSpLocks/>
          </p:cNvCxnSpPr>
          <p:nvPr/>
        </p:nvCxnSpPr>
        <p:spPr>
          <a:xfrm>
            <a:off x="3181815" y="2667019"/>
            <a:ext cx="5641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B20B489-83EC-7C31-1E74-92EF7C2F5A47}"/>
              </a:ext>
            </a:extLst>
          </p:cNvPr>
          <p:cNvSpPr/>
          <p:nvPr/>
        </p:nvSpPr>
        <p:spPr>
          <a:xfrm>
            <a:off x="3549905" y="3120866"/>
            <a:ext cx="1110360" cy="2501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Allocate PSRAM</a:t>
            </a:r>
            <a:endParaRPr lang="en-IN" dirty="0">
              <a:solidFill>
                <a:schemeClr val="tx1"/>
              </a:solidFill>
            </a:endParaRP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2649EA6-67E3-800A-647E-A3789E55373E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36450" y="3245960"/>
            <a:ext cx="1110360" cy="250192"/>
          </a:xfrm>
          <a:prstGeom prst="bentConnector3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68A261C-7F8F-9C56-C1FC-7AC5D36B357B}"/>
              </a:ext>
            </a:extLst>
          </p:cNvPr>
          <p:cNvSpPr txBox="1"/>
          <p:nvPr/>
        </p:nvSpPr>
        <p:spPr>
          <a:xfrm>
            <a:off x="3928946" y="2802602"/>
            <a:ext cx="3122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400" dirty="0"/>
              <a:t>↓</a:t>
            </a:r>
            <a:endParaRPr lang="en-IN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BD168DF-0068-D708-9C8D-B243421DCBCE}"/>
              </a:ext>
            </a:extLst>
          </p:cNvPr>
          <p:cNvCxnSpPr/>
          <p:nvPr/>
        </p:nvCxnSpPr>
        <p:spPr>
          <a:xfrm>
            <a:off x="1628078" y="2802602"/>
            <a:ext cx="0" cy="5789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body" idx="1"/>
          </p:nvPr>
        </p:nvSpPr>
        <p:spPr>
          <a:xfrm>
            <a:off x="2679702" y="989330"/>
            <a:ext cx="2141220" cy="3714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b="1" dirty="0"/>
              <a:t>Classes</a:t>
            </a:r>
            <a:r>
              <a:rPr lang="en-IN" altLang="en-US" sz="1200" b="1" dirty="0"/>
              <a:t>:</a:t>
            </a:r>
            <a:endParaRPr lang="en-US" altLang="en-US" sz="1200" b="1" dirty="0"/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Safe Driving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Texting Right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Texting Left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Talking Phone Right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Talking Phone Left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Operating Radio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Drinking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Reaching Behind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Hair and Makeup</a:t>
            </a:r>
          </a:p>
          <a:p>
            <a:pPr marL="137160" indent="0" algn="just">
              <a:lnSpc>
                <a:spcPct val="150000"/>
              </a:lnSpc>
              <a:buNone/>
            </a:pPr>
            <a:r>
              <a:rPr lang="en-US" altLang="en-US" sz="1200" dirty="0"/>
              <a:t>Talking to Passenger</a:t>
            </a:r>
          </a:p>
        </p:txBody>
      </p:sp>
      <p:pic>
        <p:nvPicPr>
          <p:cNvPr id="146" name="Google Shape;146;p27" descr="kec2blackborder png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721995" cy="63246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992120" y="88265"/>
            <a:ext cx="4088765" cy="396240"/>
          </a:xfrm>
        </p:spPr>
        <p:txBody>
          <a:bodyPr/>
          <a:lstStyle/>
          <a:p>
            <a:pPr marL="0" indent="0"/>
            <a:r>
              <a:rPr lang="en-US" sz="1800" b="1" dirty="0">
                <a:solidFill>
                  <a:srgbClr val="0070C0"/>
                </a:solidFill>
              </a:rPr>
              <a:t> </a:t>
            </a:r>
            <a:br>
              <a:rPr lang="en-US" sz="1800" b="1" dirty="0"/>
            </a:br>
            <a:br>
              <a:rPr lang="en-US" sz="1800" dirty="0"/>
            </a:br>
            <a:r>
              <a:rPr lang="en-US" sz="1800" b="1" dirty="0">
                <a:solidFill>
                  <a:srgbClr val="0070C0"/>
                </a:solidFill>
              </a:rPr>
              <a:t>Dataset Description</a:t>
            </a:r>
            <a:endParaRPr lang="en-US" sz="1800" dirty="0"/>
          </a:p>
        </p:txBody>
      </p:sp>
      <p:sp>
        <p:nvSpPr>
          <p:cNvPr id="2" name="Text Box 1"/>
          <p:cNvSpPr txBox="1"/>
          <p:nvPr/>
        </p:nvSpPr>
        <p:spPr>
          <a:xfrm>
            <a:off x="4958715" y="970915"/>
            <a:ext cx="3898900" cy="371475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spcAft>
                <a:spcPct val="60000"/>
              </a:spcAft>
              <a:buFont typeface="Wingdings" panose="05000000000000000000" charset="0"/>
              <a:buNone/>
            </a:pPr>
            <a:r>
              <a:rPr lang="en-US" altLang="zh-CN" b="1" dirty="0"/>
              <a:t>Image Details</a:t>
            </a:r>
            <a:r>
              <a:rPr lang="en-IN" altLang="en-US" b="1" dirty="0"/>
              <a:t>:</a:t>
            </a:r>
            <a:endParaRPr lang="en-US" altLang="zh-CN" b="1" dirty="0"/>
          </a:p>
          <a:p>
            <a:pPr marL="285750" indent="-285750" algn="just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Original Image Size: 224 × 224 × 3 (RGB)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Optimized Models: </a:t>
            </a:r>
          </a:p>
          <a:p>
            <a:pPr marL="0" lvl="1" indent="457200" algn="just">
              <a:lnSpc>
                <a:spcPct val="150000"/>
              </a:lnSpc>
              <a:buFont typeface="Wingdings" panose="05000000000000000000" charset="0"/>
              <a:buNone/>
            </a:pPr>
            <a:r>
              <a:rPr lang="en-US" altLang="zh-CN" dirty="0"/>
              <a:t>96 × 96 × 1 (Grayscale) </a:t>
            </a:r>
          </a:p>
          <a:p>
            <a:pPr marL="0" lvl="1" indent="457200" algn="just">
              <a:lnSpc>
                <a:spcPct val="150000"/>
              </a:lnSpc>
              <a:buFont typeface="Wingdings" panose="05000000000000000000" charset="0"/>
              <a:buNone/>
            </a:pPr>
            <a:r>
              <a:rPr lang="en-US" altLang="zh-CN" dirty="0"/>
              <a:t>64 × 64 × 1 (Grayscale) </a:t>
            </a:r>
          </a:p>
          <a:p>
            <a:pPr marL="0" indent="0" algn="just">
              <a:lnSpc>
                <a:spcPct val="150000"/>
              </a:lnSpc>
              <a:spcAft>
                <a:spcPct val="60000"/>
              </a:spcAft>
              <a:buFont typeface="Wingdings" panose="05000000000000000000" charset="0"/>
              <a:buNone/>
            </a:pPr>
            <a:r>
              <a:rPr lang="en-US" altLang="zh-CN" b="1" dirty="0"/>
              <a:t>Preprocessing</a:t>
            </a:r>
            <a:r>
              <a:rPr lang="en-IN" altLang="en-US" b="1" dirty="0"/>
              <a:t>:</a:t>
            </a:r>
            <a:endParaRPr lang="en-US" altLang="zh-CN" b="1" dirty="0"/>
          </a:p>
          <a:p>
            <a:pPr marL="285750" indent="-285750" algn="just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Resize images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Convert RGB to Grayscale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Normalize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dirty="0"/>
              <a:t>INT8 Quantization 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850900" y="556895"/>
            <a:ext cx="4572000" cy="414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7160" indent="0" algn="just">
              <a:lnSpc>
                <a:spcPct val="150000"/>
              </a:lnSpc>
              <a:buNone/>
            </a:pPr>
            <a:r>
              <a:rPr lang="en-IN" b="1" dirty="0">
                <a:sym typeface="+mn-ea"/>
              </a:rPr>
              <a:t>Dataset Used:</a:t>
            </a:r>
            <a:r>
              <a:rPr lang="en-IN" dirty="0">
                <a:sym typeface="+mn-ea"/>
              </a:rPr>
              <a:t> </a:t>
            </a:r>
            <a:r>
              <a:rPr lang="en-US" altLang="en-US" dirty="0">
                <a:sym typeface="+mn-ea"/>
              </a:rPr>
              <a:t>State Farm Driver Distraction Dataset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7020000">
            <a:off x="7666355" y="-222250"/>
            <a:ext cx="542290" cy="17887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100054-456B-9ACD-0CDE-2F5CCB7E59CF}"/>
              </a:ext>
            </a:extLst>
          </p:cNvPr>
          <p:cNvSpPr txBox="1"/>
          <p:nvPr/>
        </p:nvSpPr>
        <p:spPr>
          <a:xfrm>
            <a:off x="1044413" y="1384935"/>
            <a:ext cx="1325407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Total images</a:t>
            </a:r>
            <a:r>
              <a:rPr lang="en-US" dirty="0"/>
              <a:t>:</a:t>
            </a:r>
          </a:p>
          <a:p>
            <a:r>
              <a:rPr lang="en-US" dirty="0"/>
              <a:t>     97,150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514BD5-7707-FFDC-6382-22314D246866}"/>
              </a:ext>
            </a:extLst>
          </p:cNvPr>
          <p:cNvSpPr txBox="1"/>
          <p:nvPr/>
        </p:nvSpPr>
        <p:spPr>
          <a:xfrm>
            <a:off x="1044413" y="2465225"/>
            <a:ext cx="1325407" cy="5232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Training set </a:t>
            </a:r>
            <a:r>
              <a:rPr lang="en-US" dirty="0"/>
              <a:t>:</a:t>
            </a:r>
          </a:p>
          <a:p>
            <a:r>
              <a:rPr lang="en-US" dirty="0"/>
              <a:t>     22,424</a:t>
            </a: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D1B6B2-BCFD-7F2E-CFD1-F56A5E7F9C87}"/>
              </a:ext>
            </a:extLst>
          </p:cNvPr>
          <p:cNvSpPr txBox="1"/>
          <p:nvPr/>
        </p:nvSpPr>
        <p:spPr>
          <a:xfrm>
            <a:off x="1044413" y="3545515"/>
            <a:ext cx="1325407" cy="523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Testing set</a:t>
            </a:r>
            <a:r>
              <a:rPr lang="en-US" dirty="0"/>
              <a:t>:</a:t>
            </a:r>
          </a:p>
          <a:p>
            <a:r>
              <a:rPr lang="en-US" dirty="0"/>
              <a:t>     74,726</a:t>
            </a:r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body" idx="1"/>
          </p:nvPr>
        </p:nvSpPr>
        <p:spPr>
          <a:xfrm>
            <a:off x="465455" y="1031240"/>
            <a:ext cx="7832090" cy="3624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/>
          <a:p>
            <a:pPr lvl="1">
              <a:lnSpc>
                <a:spcPct val="150000"/>
              </a:lnSpc>
              <a:defRPr sz="1800"/>
            </a:pPr>
            <a:r>
              <a:rPr lang="en-US" sz="1400" dirty="0"/>
              <a:t>Developed an efficient </a:t>
            </a:r>
            <a:r>
              <a:rPr lang="en-US" sz="1400" dirty="0" err="1"/>
              <a:t>TinyML</a:t>
            </a:r>
            <a:r>
              <a:rPr lang="en-US" sz="1400" dirty="0"/>
              <a:t>-based driver distraction detection framework suitable for resource-constrained microcontroller platforms.</a:t>
            </a:r>
          </a:p>
          <a:p>
            <a:pPr lvl="1">
              <a:lnSpc>
                <a:spcPct val="150000"/>
              </a:lnSpc>
              <a:defRPr sz="1800"/>
            </a:pPr>
            <a:r>
              <a:rPr lang="en-US" sz="1400" dirty="0"/>
              <a:t>Integrated transfer learning, teacher–student knowledge distillation, INT8 quantization, and TensorFlow Lite Micro to optimize model size, memory usage, and inference speed.</a:t>
            </a:r>
          </a:p>
          <a:p>
            <a:pPr lvl="1">
              <a:lnSpc>
                <a:spcPct val="150000"/>
              </a:lnSpc>
              <a:defRPr sz="1800"/>
            </a:pPr>
            <a:r>
              <a:rPr lang="en-US" sz="1400" dirty="0"/>
              <a:t>Evaluated multiple input resolutions and benchmarked accuracy, latency, runtime memory, and model size to identify the best trade-off for edge deployment.</a:t>
            </a:r>
          </a:p>
          <a:p>
            <a:pPr lvl="1">
              <a:lnSpc>
                <a:spcPct val="150000"/>
              </a:lnSpc>
              <a:defRPr sz="1800"/>
            </a:pPr>
            <a:r>
              <a:rPr lang="en-US" sz="1400" dirty="0"/>
              <a:t>Demonstrated that reliable real-time driver distraction detection can be achieved on low-cost embedded hardware, providing a practical solution for intelligent transportation and edge AI applications</a:t>
            </a:r>
            <a:endParaRPr lang="en-US" altLang="en-US" sz="1200" dirty="0"/>
          </a:p>
        </p:txBody>
      </p:sp>
      <p:pic>
        <p:nvPicPr>
          <p:cNvPr id="146" name="Google Shape;146;p27" descr="kec2blackborder png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851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48976" y="543687"/>
            <a:ext cx="7108031" cy="364166"/>
          </a:xfrm>
        </p:spPr>
        <p:txBody>
          <a:bodyPr/>
          <a:lstStyle/>
          <a:p>
            <a:br>
              <a:rPr lang="en-IN" sz="2400" b="1" dirty="0">
                <a:latin typeface="+mj-lt"/>
                <a:cs typeface="Times New Roman" panose="02020603050405020304" pitchFamily="18" charset="0"/>
              </a:rPr>
            </a:br>
            <a:r>
              <a:rPr lang="en-IN" sz="2400" b="1" dirty="0">
                <a:latin typeface="+mj-lt"/>
                <a:cs typeface="Times New Roman" panose="02020603050405020304" pitchFamily="18" charset="0"/>
              </a:rPr>
              <a:t>Planned Implementation</a:t>
            </a:r>
            <a:endParaRPr lang="en-US" sz="2400" b="1" dirty="0">
              <a:solidFill>
                <a:srgbClr val="0070C0"/>
              </a:solidFill>
              <a:latin typeface="+mj-lt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7020000">
            <a:off x="7378065" y="-222250"/>
            <a:ext cx="542290" cy="178879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7340000">
            <a:off x="7938770" y="3701415"/>
            <a:ext cx="542290" cy="17887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3098F6EF-9A7E-B018-6C93-1BD2193BC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>
            <a:extLst>
              <a:ext uri="{FF2B5EF4-FFF2-40B4-BE49-F238E27FC236}">
                <a16:creationId xmlns:a16="http://schemas.microsoft.com/office/drawing/2014/main" id="{D051A262-6BDB-B20A-C634-C6664932890B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851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D2EB7D6-0B5E-8D4E-CCC8-0DC8BE2D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56" y="58771"/>
            <a:ext cx="7108031" cy="364166"/>
          </a:xfrm>
        </p:spPr>
        <p:txBody>
          <a:bodyPr/>
          <a:lstStyle/>
          <a:p>
            <a:br>
              <a:rPr lang="en-IN" sz="2400" b="1" dirty="0">
                <a:latin typeface="+mj-lt"/>
                <a:cs typeface="Times New Roman" panose="02020603050405020304" pitchFamily="18" charset="0"/>
              </a:rPr>
            </a:br>
            <a:r>
              <a:rPr lang="en-IN" sz="2400" b="1" dirty="0">
                <a:latin typeface="+mj-lt"/>
                <a:cs typeface="Times New Roman" panose="02020603050405020304" pitchFamily="18" charset="0"/>
              </a:rPr>
              <a:t>Preliminary Result</a:t>
            </a:r>
            <a:endParaRPr lang="en-US" sz="2400" b="1" dirty="0">
              <a:solidFill>
                <a:srgbClr val="0070C0"/>
              </a:solidFill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CF8075-160E-9C77-EDF0-84B3FC3706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7020000">
            <a:off x="7378065" y="-222250"/>
            <a:ext cx="542290" cy="178879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1105265-A076-45F5-3BD7-354BD669D94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7340000">
            <a:off x="7938770" y="3701415"/>
            <a:ext cx="542290" cy="17887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8240A7-D942-67CE-95F5-1404276376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890"/>
          <a:stretch>
            <a:fillRect/>
          </a:stretch>
        </p:blipFill>
        <p:spPr>
          <a:xfrm>
            <a:off x="1078572" y="457200"/>
            <a:ext cx="6986856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940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5162ADD4-111C-0CCF-7DBB-6C412EAF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>
            <a:extLst>
              <a:ext uri="{FF2B5EF4-FFF2-40B4-BE49-F238E27FC236}">
                <a16:creationId xmlns:a16="http://schemas.microsoft.com/office/drawing/2014/main" id="{D6B328E0-BEB9-6B5B-9BF2-BC657920A608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851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9D94D5D-014C-9B1A-D7B4-9FBB71F00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6362" y="63375"/>
            <a:ext cx="7108031" cy="364166"/>
          </a:xfrm>
        </p:spPr>
        <p:txBody>
          <a:bodyPr/>
          <a:lstStyle/>
          <a:p>
            <a:br>
              <a:rPr lang="en-IN" sz="2400" b="1" dirty="0">
                <a:latin typeface="+mj-lt"/>
                <a:cs typeface="Times New Roman" panose="02020603050405020304" pitchFamily="18" charset="0"/>
              </a:rPr>
            </a:br>
            <a:r>
              <a:rPr lang="en-IN" sz="2400" b="1" dirty="0">
                <a:latin typeface="+mj-lt"/>
                <a:cs typeface="Times New Roman" panose="02020603050405020304" pitchFamily="18" charset="0"/>
              </a:rPr>
              <a:t>Preliminary Student Analysis</a:t>
            </a:r>
            <a:endParaRPr lang="en-US" sz="2400" b="1" dirty="0">
              <a:solidFill>
                <a:srgbClr val="0070C0"/>
              </a:solidFill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35017D-F2C1-19EC-9926-48B477C405C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7020000">
            <a:off x="7378065" y="-222250"/>
            <a:ext cx="542290" cy="178879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2773AD-1192-9806-2DAB-A5EACC571A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7340000">
            <a:off x="7938770" y="3701415"/>
            <a:ext cx="542290" cy="178879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4274E5D-ACD8-7C36-71D3-0B5EADAF2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16970"/>
              </p:ext>
            </p:extLst>
          </p:nvPr>
        </p:nvGraphicFramePr>
        <p:xfrm>
          <a:off x="1192932" y="457201"/>
          <a:ext cx="6758136" cy="22636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65448">
                  <a:extLst>
                    <a:ext uri="{9D8B030D-6E8A-4147-A177-3AD203B41FA5}">
                      <a16:colId xmlns:a16="http://schemas.microsoft.com/office/drawing/2014/main" val="1017037847"/>
                    </a:ext>
                  </a:extLst>
                </a:gridCol>
                <a:gridCol w="965448">
                  <a:extLst>
                    <a:ext uri="{9D8B030D-6E8A-4147-A177-3AD203B41FA5}">
                      <a16:colId xmlns:a16="http://schemas.microsoft.com/office/drawing/2014/main" val="3604311692"/>
                    </a:ext>
                  </a:extLst>
                </a:gridCol>
                <a:gridCol w="965448">
                  <a:extLst>
                    <a:ext uri="{9D8B030D-6E8A-4147-A177-3AD203B41FA5}">
                      <a16:colId xmlns:a16="http://schemas.microsoft.com/office/drawing/2014/main" val="1009867976"/>
                    </a:ext>
                  </a:extLst>
                </a:gridCol>
                <a:gridCol w="965448">
                  <a:extLst>
                    <a:ext uri="{9D8B030D-6E8A-4147-A177-3AD203B41FA5}">
                      <a16:colId xmlns:a16="http://schemas.microsoft.com/office/drawing/2014/main" val="4167227027"/>
                    </a:ext>
                  </a:extLst>
                </a:gridCol>
                <a:gridCol w="965448">
                  <a:extLst>
                    <a:ext uri="{9D8B030D-6E8A-4147-A177-3AD203B41FA5}">
                      <a16:colId xmlns:a16="http://schemas.microsoft.com/office/drawing/2014/main" val="832200898"/>
                    </a:ext>
                  </a:extLst>
                </a:gridCol>
                <a:gridCol w="965448">
                  <a:extLst>
                    <a:ext uri="{9D8B030D-6E8A-4147-A177-3AD203B41FA5}">
                      <a16:colId xmlns:a16="http://schemas.microsoft.com/office/drawing/2014/main" val="3390583428"/>
                    </a:ext>
                  </a:extLst>
                </a:gridCol>
                <a:gridCol w="965448">
                  <a:extLst>
                    <a:ext uri="{9D8B030D-6E8A-4147-A177-3AD203B41FA5}">
                      <a16:colId xmlns:a16="http://schemas.microsoft.com/office/drawing/2014/main" val="581105894"/>
                    </a:ext>
                  </a:extLst>
                </a:gridCol>
              </a:tblGrid>
              <a:tr h="15301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Model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Parameters (M)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Inference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FLOPs (M)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Latency (ms)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FPS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Size (MB)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31787944"/>
                  </a:ext>
                </a:extLst>
              </a:tr>
              <a:tr h="48604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Teacher-EfficientNet 224x224x3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4.06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FP32 Keras teacher, 224 x 224 RGB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780.0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7,033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0.14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16.4158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07333844"/>
                  </a:ext>
                </a:extLst>
              </a:tr>
              <a:tr h="65255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Student Compact grayscale CNN 96x96x1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0.00553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INT8 TFLite Micro, 96 x 96 grayscale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7.64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68.9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14.51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0.0594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36261131"/>
                  </a:ext>
                </a:extLst>
              </a:tr>
              <a:tr h="48604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Student Wider grayscale CNN 96x96x1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0.01185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INT8 TFLite Micro, 96 x 96 grayscale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16.45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2596.4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0.39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0.0888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94213861"/>
                  </a:ext>
                </a:extLst>
              </a:tr>
              <a:tr h="48604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 dirty="0">
                          <a:effectLst/>
                        </a:rPr>
                        <a:t>Student Wider RGB CNN 96x96x3</a:t>
                      </a:r>
                      <a:endParaRPr lang="en-IN" sz="1000" dirty="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0.01198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INT8 TFLite Micro, 96 x 96 RGB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16.68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3988.6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0.25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 dirty="0">
                          <a:effectLst/>
                        </a:rPr>
                        <a:t>0.0899</a:t>
                      </a:r>
                      <a:endParaRPr lang="en-IN" sz="1000" dirty="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33869297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F0AE5D-8F47-32D6-4DC9-D84F615010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12277"/>
              </p:ext>
            </p:extLst>
          </p:nvPr>
        </p:nvGraphicFramePr>
        <p:xfrm>
          <a:off x="1185778" y="2780217"/>
          <a:ext cx="6765290" cy="190608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66470">
                  <a:extLst>
                    <a:ext uri="{9D8B030D-6E8A-4147-A177-3AD203B41FA5}">
                      <a16:colId xmlns:a16="http://schemas.microsoft.com/office/drawing/2014/main" val="1792976174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31592137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337394797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2649125023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3601370056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866531927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42298138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Model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Accuracy (%)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Precision (%)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Recall (%)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F1-score (%)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Best epoch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Total epochs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83792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Teacher-EfficientNet 224x224x3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87.29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87.66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87.23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87.05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10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15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1219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Student Compact grayscale CNN 96x96x1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71.62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72.41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71.04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69.64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49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13936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Student Wider grayscale CNN 96x96x1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88.87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89.20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88.78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88.73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68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69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05078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Student Wider RGB CNN 96x96x3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94.49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94.66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94.29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94.38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 dirty="0">
                          <a:effectLst/>
                        </a:rPr>
                        <a:t>67</a:t>
                      </a:r>
                      <a:endParaRPr lang="en-IN" sz="1000" dirty="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11833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730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14CA3864-7A2F-4477-CCC0-D65305B1E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>
            <a:extLst>
              <a:ext uri="{FF2B5EF4-FFF2-40B4-BE49-F238E27FC236}">
                <a16:creationId xmlns:a16="http://schemas.microsoft.com/office/drawing/2014/main" id="{0B5D1BC3-216D-C3BF-6201-9A3A5CA386B0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851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9A7413B-F15F-E4C6-DB05-1FEAC24D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182" y="224668"/>
            <a:ext cx="7108031" cy="364166"/>
          </a:xfrm>
        </p:spPr>
        <p:txBody>
          <a:bodyPr/>
          <a:lstStyle/>
          <a:p>
            <a:br>
              <a:rPr lang="en-IN" sz="2400" b="1" dirty="0">
                <a:latin typeface="+mj-lt"/>
                <a:cs typeface="Times New Roman" panose="02020603050405020304" pitchFamily="18" charset="0"/>
              </a:rPr>
            </a:br>
            <a:r>
              <a:rPr lang="en-IN" sz="2400" b="1" dirty="0">
                <a:latin typeface="+mj-lt"/>
                <a:cs typeface="Times New Roman" panose="02020603050405020304" pitchFamily="18" charset="0"/>
              </a:rPr>
              <a:t>Benchmark Result</a:t>
            </a:r>
            <a:endParaRPr lang="en-US" sz="2400" b="1" dirty="0">
              <a:solidFill>
                <a:srgbClr val="0070C0"/>
              </a:solidFill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D10911-1ADD-0141-7BF2-E710C6EC72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7020000">
            <a:off x="7378065" y="-222250"/>
            <a:ext cx="542290" cy="178879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997165F-8CB2-FBD7-D730-F6152D6BA6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7340000">
            <a:off x="7938770" y="3701415"/>
            <a:ext cx="542290" cy="17887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66C043-C1C7-5C26-F977-8D6EA90B31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294" y="796681"/>
            <a:ext cx="8035085" cy="3774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180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B9D28710-F20D-BDD1-9AE6-E7C04BBA0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>
            <a:extLst>
              <a:ext uri="{FF2B5EF4-FFF2-40B4-BE49-F238E27FC236}">
                <a16:creationId xmlns:a16="http://schemas.microsoft.com/office/drawing/2014/main" id="{A4F24B2A-2549-5AD8-9A56-E9E03853D632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851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A5BE25F-D339-B29E-2E55-8E1806BD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56" y="160499"/>
            <a:ext cx="7108031" cy="364166"/>
          </a:xfrm>
        </p:spPr>
        <p:txBody>
          <a:bodyPr/>
          <a:lstStyle/>
          <a:p>
            <a:br>
              <a:rPr lang="en-IN" sz="2400" b="1" dirty="0">
                <a:latin typeface="+mj-lt"/>
                <a:cs typeface="Times New Roman" panose="02020603050405020304" pitchFamily="18" charset="0"/>
              </a:rPr>
            </a:br>
            <a:r>
              <a:rPr lang="en-IN" sz="2400" b="1" dirty="0">
                <a:latin typeface="+mj-lt"/>
                <a:cs typeface="Times New Roman" panose="02020603050405020304" pitchFamily="18" charset="0"/>
              </a:rPr>
              <a:t>Benchmark metrics</a:t>
            </a:r>
            <a:endParaRPr lang="en-US" sz="2400" b="1" dirty="0">
              <a:solidFill>
                <a:srgbClr val="0070C0"/>
              </a:solidFill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A6ED57-6F47-7201-CBB4-09938C80A3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7020000">
            <a:off x="7378065" y="-222250"/>
            <a:ext cx="542290" cy="178879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2C40DDE-FC6E-3A55-A7C2-8470E43E52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7340000">
            <a:off x="7938770" y="3701415"/>
            <a:ext cx="542290" cy="178879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3DF6E49-DAA7-9B41-C1A9-7FAC7EEC58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672216"/>
              </p:ext>
            </p:extLst>
          </p:nvPr>
        </p:nvGraphicFramePr>
        <p:xfrm>
          <a:off x="1017985" y="750208"/>
          <a:ext cx="7108030" cy="267295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1606">
                  <a:extLst>
                    <a:ext uri="{9D8B030D-6E8A-4147-A177-3AD203B41FA5}">
                      <a16:colId xmlns:a16="http://schemas.microsoft.com/office/drawing/2014/main" val="2965146119"/>
                    </a:ext>
                  </a:extLst>
                </a:gridCol>
                <a:gridCol w="1421606">
                  <a:extLst>
                    <a:ext uri="{9D8B030D-6E8A-4147-A177-3AD203B41FA5}">
                      <a16:colId xmlns:a16="http://schemas.microsoft.com/office/drawing/2014/main" val="301232641"/>
                    </a:ext>
                  </a:extLst>
                </a:gridCol>
                <a:gridCol w="1421606">
                  <a:extLst>
                    <a:ext uri="{9D8B030D-6E8A-4147-A177-3AD203B41FA5}">
                      <a16:colId xmlns:a16="http://schemas.microsoft.com/office/drawing/2014/main" val="1031440518"/>
                    </a:ext>
                  </a:extLst>
                </a:gridCol>
                <a:gridCol w="1421606">
                  <a:extLst>
                    <a:ext uri="{9D8B030D-6E8A-4147-A177-3AD203B41FA5}">
                      <a16:colId xmlns:a16="http://schemas.microsoft.com/office/drawing/2014/main" val="535124266"/>
                    </a:ext>
                  </a:extLst>
                </a:gridCol>
                <a:gridCol w="1421606">
                  <a:extLst>
                    <a:ext uri="{9D8B030D-6E8A-4147-A177-3AD203B41FA5}">
                      <a16:colId xmlns:a16="http://schemas.microsoft.com/office/drawing/2014/main" val="3490059655"/>
                    </a:ext>
                  </a:extLst>
                </a:gridCol>
              </a:tblGrid>
              <a:tr h="43903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Model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 dirty="0">
                          <a:effectLst/>
                        </a:rPr>
                        <a:t>Accuracy (%)</a:t>
                      </a:r>
                      <a:endParaRPr lang="en-IN" sz="1000" dirty="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Precision (%)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Recall (%)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F1-score (%)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94006885"/>
                  </a:ext>
                </a:extLst>
              </a:tr>
              <a:tr h="43903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ConvNeXt student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44.90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56.31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45.01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43.48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55254677"/>
                  </a:ext>
                </a:extLst>
              </a:tr>
              <a:tr h="43903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EfficientNet-B0 student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52.28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 dirty="0">
                          <a:effectLst/>
                        </a:rPr>
                        <a:t>51.44</a:t>
                      </a:r>
                      <a:endParaRPr lang="en-IN" sz="1000" dirty="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51.82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50.30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98404056"/>
                  </a:ext>
                </a:extLst>
              </a:tr>
              <a:tr h="91680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MobileNetV3-Small student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54.92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55.22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54.66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54.38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88851789"/>
                  </a:ext>
                </a:extLst>
              </a:tr>
              <a:tr h="43903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ResNet50 student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59.28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60.92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59.05</a:t>
                      </a:r>
                      <a:endParaRPr lang="en-IN" sz="100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800" dirty="0">
                          <a:effectLst/>
                        </a:rPr>
                        <a:t>58.71</a:t>
                      </a:r>
                      <a:endParaRPr lang="en-IN" sz="1000" dirty="0"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293188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4BF1DED-5268-EC91-59E9-9557246DA4B0}"/>
              </a:ext>
            </a:extLst>
          </p:cNvPr>
          <p:cNvSpPr txBox="1"/>
          <p:nvPr/>
        </p:nvSpPr>
        <p:spPr>
          <a:xfrm>
            <a:off x="1101885" y="3474096"/>
            <a:ext cx="71080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effectLst/>
                <a:latin typeface="Arial" panose="020B0604020202020204"/>
                <a:ea typeface="MS Mincho" panose="02020609040205080304" pitchFamily="49" charset="-128"/>
              </a:rPr>
              <a:t>This table reports the classification metrics of the four distilled student models trained from different teacher sources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7487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A84D042A-9F1D-AB25-633C-B6F50F613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>
            <a:extLst>
              <a:ext uri="{FF2B5EF4-FFF2-40B4-BE49-F238E27FC236}">
                <a16:creationId xmlns:a16="http://schemas.microsoft.com/office/drawing/2014/main" id="{10EB9712-2BD0-CF2E-081A-0196BF355B76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8516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9A50A07-D968-7308-2762-3DBDD06AA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8610" y="74567"/>
            <a:ext cx="7108031" cy="364166"/>
          </a:xfrm>
        </p:spPr>
        <p:txBody>
          <a:bodyPr/>
          <a:lstStyle/>
          <a:p>
            <a:br>
              <a:rPr lang="en-IN" sz="2400" b="1" dirty="0">
                <a:latin typeface="+mj-lt"/>
                <a:cs typeface="Times New Roman" panose="02020603050405020304" pitchFamily="18" charset="0"/>
              </a:rPr>
            </a:br>
            <a:r>
              <a:rPr lang="en-IN" sz="2400" b="1" dirty="0">
                <a:latin typeface="+mj-lt"/>
                <a:cs typeface="Times New Roman" panose="02020603050405020304" pitchFamily="18" charset="0"/>
              </a:rPr>
              <a:t>Immediate Results </a:t>
            </a:r>
            <a:endParaRPr lang="en-US" sz="2400" b="1" dirty="0">
              <a:solidFill>
                <a:srgbClr val="0070C0"/>
              </a:solidFill>
              <a:latin typeface="+mj-l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DFB784-73C5-5788-2379-6EC5B7FFA5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7340000">
            <a:off x="7938770" y="3701415"/>
            <a:ext cx="542290" cy="17887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92EED1-3AE7-89F3-A98E-F7A8A7A896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912" t="7438" r="32755" b="48564"/>
          <a:stretch>
            <a:fillRect/>
          </a:stretch>
        </p:blipFill>
        <p:spPr>
          <a:xfrm>
            <a:off x="2818186" y="3456443"/>
            <a:ext cx="3635339" cy="168693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4180C9F-9E97-E6C2-EAE3-8D25F8D5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049721"/>
              </p:ext>
            </p:extLst>
          </p:nvPr>
        </p:nvGraphicFramePr>
        <p:xfrm>
          <a:off x="1013460" y="438733"/>
          <a:ext cx="7679474" cy="2979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2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22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22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11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9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70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23176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Base 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Used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Input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Size</a:t>
                      </a:r>
                    </a:p>
                  </a:txBody>
                  <a:tcPr marL="27432" marR="27432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Size</a:t>
                      </a:r>
                    </a:p>
                  </a:txBody>
                  <a:tcPr marL="27432" marR="27432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Tensor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Arena</a:t>
                      </a:r>
                    </a:p>
                  </a:txBody>
                  <a:tcPr marL="27432" marR="27432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Teacher model size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Wokwi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Latency</a:t>
                      </a:r>
                    </a:p>
                  </a:txBody>
                  <a:tcPr marL="27432" marR="27432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Est. Real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ESP32 Latency</a:t>
                      </a:r>
                    </a:p>
                  </a:txBody>
                  <a:tcPr marL="27432" marR="27432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Accuracy /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Result Summary</a:t>
                      </a:r>
                    </a:p>
                  </a:txBody>
                  <a:tcPr marL="27432" marR="27432" marT="18288" marB="18288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1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ResNet50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96x96x3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INT8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23 KB</a:t>
                      </a:r>
                      <a:endParaRPr sz="11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204,800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bytes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/>
                        <a:t>0.18 MB</a:t>
                      </a:r>
                      <a:endParaRPr sz="10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48,390-48,391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ms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~</a:t>
                      </a:r>
                      <a:r>
                        <a:rPr lang="en-IN" sz="1100" b="0" dirty="0">
                          <a:solidFill>
                            <a:srgbClr val="111827"/>
                          </a:solidFill>
                        </a:rPr>
                        <a:t>2,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419.5-419.6</a:t>
                      </a:r>
                    </a:p>
                    <a:p>
                      <a:pPr algn="ctr"/>
                      <a:r>
                        <a:rPr sz="11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11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Confidence: </a:t>
                      </a:r>
                      <a:r>
                        <a:rPr lang="en-IN" sz="11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0.595107</a:t>
                      </a:r>
                    </a:p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Accuracy: 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0.85410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111827"/>
                          </a:solidFill>
                        </a:rPr>
                        <a:t>EfficientNetB0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96x96x3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INT8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23 KB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204,800</a:t>
                      </a:r>
                    </a:p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bytes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/>
                        <a:t>3.09 MB</a:t>
                      </a:r>
                      <a:endParaRPr sz="10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1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8,391</a:t>
                      </a:r>
                    </a:p>
                    <a:p>
                      <a:pPr algn="ctr"/>
                      <a:r>
                        <a:rPr sz="11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11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~</a:t>
                      </a:r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1,172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.6</a:t>
                      </a:r>
                    </a:p>
                    <a:p>
                      <a:pPr algn="ctr"/>
                      <a:r>
                        <a:rPr lang="en-IN" sz="1100" b="0" dirty="0">
                          <a:solidFill>
                            <a:srgbClr val="111827"/>
                          </a:solidFill>
                        </a:rPr>
                        <a:t>M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s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Confidence: </a:t>
                      </a:r>
                      <a:r>
                        <a:rPr lang="en-IN" sz="11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0.851242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Accuracy: 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0.80974</a:t>
                      </a:r>
                    </a:p>
                    <a:p>
                      <a:pPr algn="ctr"/>
                      <a:endParaRPr lang="en-US" sz="10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MobileNetV3</a:t>
                      </a:r>
                    </a:p>
                  </a:txBody>
                  <a:tcPr marL="27432" marR="27432" marT="18288" marB="18288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96x96x3</a:t>
                      </a:r>
                    </a:p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INT8</a:t>
                      </a:r>
                    </a:p>
                  </a:txBody>
                  <a:tcPr marL="27432" marR="27432" marT="18288" marB="18288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23 KB</a:t>
                      </a:r>
                    </a:p>
                  </a:txBody>
                  <a:tcPr marL="27432" marR="27432" marT="18288" marB="18288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204,800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bytes</a:t>
                      </a:r>
                    </a:p>
                  </a:txBody>
                  <a:tcPr marL="27432" marR="27432" marT="18288" marB="18288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/>
                        <a:t>8.07 MB</a:t>
                      </a:r>
                      <a:endParaRPr sz="10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2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8,391-8,392</a:t>
                      </a:r>
                    </a:p>
                    <a:p>
                      <a:pPr algn="ctr"/>
                      <a:r>
                        <a:rPr sz="11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11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~</a:t>
                      </a:r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8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19.6</a:t>
                      </a:r>
                    </a:p>
                    <a:p>
                      <a:pPr algn="ctr"/>
                      <a:r>
                        <a:rPr lang="en-IN" sz="1100" b="0" dirty="0">
                          <a:solidFill>
                            <a:srgbClr val="111827"/>
                          </a:solidFill>
                        </a:rPr>
                        <a:t>M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s</a:t>
                      </a:r>
                    </a:p>
                  </a:txBody>
                  <a:tcPr marL="27432" marR="27432" marT="18288" marB="18288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Confidence: 0.968652</a:t>
                      </a:r>
                      <a:endParaRPr sz="1100" b="0" dirty="0">
                        <a:solidFill>
                          <a:srgbClr val="111827"/>
                        </a:solidFill>
                      </a:endParaRP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Accuracy: 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0.86008</a:t>
                      </a:r>
                    </a:p>
                    <a:p>
                      <a:pPr algn="ctr"/>
                      <a:endParaRPr sz="11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668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827"/>
                          </a:solidFill>
                        </a:rPr>
                        <a:t>ConvNeXt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96x96x3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INT8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23 KB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204,800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827"/>
                          </a:solidFill>
                        </a:rPr>
                        <a:t>bytes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/>
                        <a:t>23.93 MB</a:t>
                      </a:r>
                      <a:endParaRPr sz="10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48,392</a:t>
                      </a:r>
                    </a:p>
                    <a:p>
                      <a:pPr algn="ctr"/>
                      <a:r>
                        <a:rPr sz="11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1100" b="0" dirty="0">
                        <a:solidFill>
                          <a:srgbClr val="111827"/>
                        </a:solidFill>
                      </a:endParaRP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~</a:t>
                      </a:r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4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,</a:t>
                      </a:r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2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1</a:t>
                      </a:r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7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.6</a:t>
                      </a:r>
                    </a:p>
                    <a:p>
                      <a:pPr algn="ctr"/>
                      <a:r>
                        <a:rPr lang="en-IN" sz="1100" b="0" dirty="0">
                          <a:solidFill>
                            <a:srgbClr val="111827"/>
                          </a:solidFill>
                        </a:rPr>
                        <a:t>M</a:t>
                      </a:r>
                      <a:r>
                        <a:rPr sz="1100" b="0" dirty="0">
                          <a:solidFill>
                            <a:srgbClr val="111827"/>
                          </a:solidFill>
                        </a:rPr>
                        <a:t>s</a:t>
                      </a: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Confidence: </a:t>
                      </a:r>
                      <a:r>
                        <a:rPr lang="en-IN" sz="11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0.295631</a:t>
                      </a:r>
                    </a:p>
                    <a:p>
                      <a:pPr algn="ctr"/>
                      <a:r>
                        <a:rPr lang="en-US" sz="1100" b="0" dirty="0">
                          <a:solidFill>
                            <a:srgbClr val="111827"/>
                          </a:solidFill>
                        </a:rPr>
                        <a:t>Accuracy: </a:t>
                      </a:r>
                      <a:r>
                        <a:rPr lang="en-IN" sz="11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 panose="020B0604020202020204"/>
                        </a:rPr>
                        <a:t>0.75106</a:t>
                      </a:r>
                    </a:p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7432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4500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E727DE38-279B-F999-C5FF-BD5F8A415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>
            <a:extLst>
              <a:ext uri="{FF2B5EF4-FFF2-40B4-BE49-F238E27FC236}">
                <a16:creationId xmlns:a16="http://schemas.microsoft.com/office/drawing/2014/main" id="{FE5ABEA5-726E-C4AC-0673-22672354A759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85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87C1141-F585-A047-3E80-74CA05D02D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7340000">
            <a:off x="7938770" y="3701415"/>
            <a:ext cx="542290" cy="1788795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A98FB4E-BA39-2382-30EB-E53463D17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413271"/>
              </p:ext>
            </p:extLst>
          </p:nvPr>
        </p:nvGraphicFramePr>
        <p:xfrm>
          <a:off x="1828800" y="5526"/>
          <a:ext cx="5833043" cy="5137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26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69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6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29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11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4571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Base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 used</a:t>
                      </a:r>
                    </a:p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for student</a:t>
                      </a:r>
                    </a:p>
                  </a:txBody>
                  <a:tcPr marL="22860" marR="22860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Hardware</a:t>
                      </a:r>
                    </a:p>
                  </a:txBody>
                  <a:tcPr marL="22860" marR="22860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Latency</a:t>
                      </a:r>
                    </a:p>
                  </a:txBody>
                  <a:tcPr marL="22860" marR="22860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 marL="22860" marR="22860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RAM usage</a:t>
                      </a:r>
                    </a:p>
                  </a:txBody>
                  <a:tcPr marL="22860" marR="22860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Model / Arena</a:t>
                      </a:r>
                    </a:p>
                  </a:txBody>
                  <a:tcPr marL="22860" marR="22860" marT="9144" marB="9144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111827"/>
                          </a:solidFill>
                        </a:rPr>
                        <a:t>ResNet50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111827"/>
                          </a:solidFill>
                        </a:rPr>
                        <a:t>ESP32-S3</a:t>
                      </a:r>
                    </a:p>
                    <a:p>
                      <a:pPr algn="ctr"/>
                      <a:r>
                        <a:rPr sz="900" b="1" dirty="0" err="1">
                          <a:solidFill>
                            <a:srgbClr val="111827"/>
                          </a:solidFill>
                        </a:rPr>
                        <a:t>Wokwi</a:t>
                      </a:r>
                      <a:endParaRPr sz="900" b="1" dirty="0">
                        <a:solidFill>
                          <a:srgbClr val="111827"/>
                        </a:solidFill>
                      </a:endParaRP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~2,419.6 </a:t>
                      </a:r>
                      <a:r>
                        <a:rPr sz="9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900" b="0" dirty="0">
                        <a:solidFill>
                          <a:srgbClr val="111827"/>
                        </a:solidFill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0.41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24,880 B static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+ 204,800 B arena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~70% effective SRAM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ResNet50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111827"/>
                          </a:solidFill>
                        </a:rPr>
                        <a:t>M5Stack</a:t>
                      </a:r>
                    </a:p>
                    <a:p>
                      <a:pPr algn="ctr"/>
                      <a:r>
                        <a:rPr sz="900" b="1" dirty="0">
                          <a:solidFill>
                            <a:srgbClr val="111827"/>
                          </a:solidFill>
                        </a:rPr>
                        <a:t>CoreS3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~2,419.6 </a:t>
                      </a:r>
                      <a:r>
                        <a:rPr sz="9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900" b="0" dirty="0">
                        <a:solidFill>
                          <a:srgbClr val="111827"/>
                        </a:solidFill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0.41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Same ESP32-S3 class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 arena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PSRAM available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571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ResNet50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Raspberry Pi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Pico RP2040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~43.4 </a:t>
                      </a:r>
                      <a:r>
                        <a:rPr sz="9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900" b="0" dirty="0">
                        <a:solidFill>
                          <a:srgbClr val="111827"/>
                        </a:solidFill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23.04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251,568 / 270,336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93.1% RAM used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EfficientNetB0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ESP32-S3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Wokwi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~2,419.6 </a:t>
                      </a:r>
                      <a:r>
                        <a:rPr sz="9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900" b="0" dirty="0">
                        <a:solidFill>
                          <a:srgbClr val="111827"/>
                        </a:solidFill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0.41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24,880 B static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+ 204,800 B arena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~70% effective SRAM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EfficientNetB0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M5Stack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CoreS3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~2,419.6 </a:t>
                      </a:r>
                      <a:r>
                        <a:rPr sz="900" b="0" dirty="0" err="1">
                          <a:solidFill>
                            <a:srgbClr val="111827"/>
                          </a:solidFill>
                        </a:rPr>
                        <a:t>ms</a:t>
                      </a:r>
                      <a:endParaRPr sz="900" b="0" dirty="0">
                        <a:solidFill>
                          <a:srgbClr val="111827"/>
                        </a:solidFill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0.41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Same ESP32-S3 class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 arena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PSRAM available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571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EfficientNetB0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Raspberry Pi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Pico RP2040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~43.4 ms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23.04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251,568 / 270,336 B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93.1% RAM used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111827"/>
                          </a:solidFill>
                        </a:rPr>
                        <a:t>MobileNetV3</a:t>
                      </a:r>
                    </a:p>
                  </a:txBody>
                  <a:tcPr marL="22860" marR="22860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ESP32-S3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Wokwi</a:t>
                      </a:r>
                    </a:p>
                  </a:txBody>
                  <a:tcPr marL="22860" marR="22860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~2,419.6 ms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0.41</a:t>
                      </a:r>
                    </a:p>
                  </a:txBody>
                  <a:tcPr marL="22860" marR="22860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24,880 B static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+ 204,800 B arena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~70% effective SRAM</a:t>
                      </a:r>
                    </a:p>
                  </a:txBody>
                  <a:tcPr marL="22860" marR="22860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MobileNetV3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M5Stack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CoreS3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~2,419.6 ms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0.41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Same ESP32-S3 class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 arena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PSRAM available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4571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MobileNetV3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Raspberry Pi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Pico RP2040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~43.4 ms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23.04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251,568 / 270,336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93.1% RAM used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ConvNeXt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ESP32-S3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Wokwi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~2,419.6 ms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0.41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24,880 B static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+ 204,800 B arena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~70% effective SRAM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68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ConvNeXt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M5Stack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CoreS3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~2,419.6 ms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0.41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Same ESP32-S3 class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204,800 B arena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PSRAM available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FEF9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4571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ConvNeXt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Raspberry Pi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111827"/>
                          </a:solidFill>
                        </a:rPr>
                        <a:t>Pico RP2040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~43.4 ms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est. real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23.04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251,568 / 270,336 B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93.1% RAM used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22,728 B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111827"/>
                          </a:solidFill>
                        </a:rPr>
                        <a:t>204,800 B</a:t>
                      </a:r>
                    </a:p>
                  </a:txBody>
                  <a:tcPr marL="22860" marR="22860" marT="4572" marB="4572"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77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ABC85146-792E-B264-D1AA-D3FBC49C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kec2blackborder png.PNG">
            <a:extLst>
              <a:ext uri="{FF2B5EF4-FFF2-40B4-BE49-F238E27FC236}">
                <a16:creationId xmlns:a16="http://schemas.microsoft.com/office/drawing/2014/main" id="{12F05DED-83E0-2765-20A0-2C938A3BD9CB}"/>
              </a:ext>
            </a:extLst>
          </p:cNvPr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0"/>
            <a:ext cx="655955" cy="685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EFD229C-80DA-8B29-4929-8BEF80842F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39" b="8835"/>
          <a:stretch>
            <a:fillRect/>
          </a:stretch>
        </p:blipFill>
        <p:spPr>
          <a:xfrm rot="17340000">
            <a:off x="7938770" y="3701415"/>
            <a:ext cx="542290" cy="178879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2E2FD7-B57E-602D-2329-3C0B0E19CA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8273" y="0"/>
            <a:ext cx="562745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1521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4"/>
          <p:cNvSpPr txBox="1">
            <a:spLocks noGrp="1"/>
          </p:cNvSpPr>
          <p:nvPr>
            <p:ph type="body" idx="1"/>
          </p:nvPr>
        </p:nvSpPr>
        <p:spPr>
          <a:xfrm>
            <a:off x="899592" y="2031690"/>
            <a:ext cx="7787208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5280"/>
              <a:buNone/>
            </a:pPr>
            <a:r>
              <a:rPr lang="en-GB" sz="6600" b="1" dirty="0">
                <a:solidFill>
                  <a:schemeClr val="bg2">
                    <a:lumMod val="40000"/>
                    <a:lumOff val="60000"/>
                  </a:scheme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Thank You !!</a:t>
            </a:r>
            <a:endParaRPr sz="6600" b="1" dirty="0">
              <a:solidFill>
                <a:schemeClr val="bg2">
                  <a:lumMod val="40000"/>
                  <a:lumOff val="60000"/>
                </a:schemeClr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pic>
        <p:nvPicPr>
          <p:cNvPr id="210" name="Google Shape;210;p34" descr="kec2blackborder png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39459"/>
            <a:ext cx="508210" cy="4745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low">
  <a:themeElements>
    <a:clrScheme name="Flo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1850</Words>
  <Application>Microsoft Office PowerPoint</Application>
  <PresentationFormat>On-screen Show (16:9)</PresentationFormat>
  <Paragraphs>535</Paragraphs>
  <Slides>19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Calibri</vt:lpstr>
      <vt:lpstr>Noto Sans Symbols</vt:lpstr>
      <vt:lpstr>Wingdings</vt:lpstr>
      <vt:lpstr>Times New Roman</vt:lpstr>
      <vt:lpstr>Arial</vt:lpstr>
      <vt:lpstr>Simple Light</vt:lpstr>
      <vt:lpstr>Flow</vt:lpstr>
      <vt:lpstr>PowerPoint Presentation</vt:lpstr>
      <vt:lpstr>   Problem statement</vt:lpstr>
      <vt:lpstr>Objectives</vt:lpstr>
      <vt:lpstr>Literature Survey</vt:lpstr>
      <vt:lpstr>Research Gap</vt:lpstr>
      <vt:lpstr>Proposed Solution</vt:lpstr>
      <vt:lpstr>Workflow</vt:lpstr>
      <vt:lpstr>PowerPoint Presentation</vt:lpstr>
      <vt:lpstr>flow</vt:lpstr>
      <vt:lpstr>   Dataset Description</vt:lpstr>
      <vt:lpstr> Planned Implementation</vt:lpstr>
      <vt:lpstr> Preliminary Result</vt:lpstr>
      <vt:lpstr> Preliminary Student Analysis</vt:lpstr>
      <vt:lpstr> Benchmark Result</vt:lpstr>
      <vt:lpstr> Benchmark metrics</vt:lpstr>
      <vt:lpstr> Immediate Results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Administrator</dc:creator>
  <cp:lastModifiedBy>harikiruthik G.R.</cp:lastModifiedBy>
  <cp:revision>35</cp:revision>
  <dcterms:created xsi:type="dcterms:W3CDTF">2026-07-01T16:47:00Z</dcterms:created>
  <dcterms:modified xsi:type="dcterms:W3CDTF">2026-09-12T06:03:56Z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7FF6E4A7387449ACAE4B2D4CD4E34339_12</vt:lpwstr>
  </property>
</Properties>
</file>