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1D17A7C-C5FB-4AC8-AB8C-5FC551B9FDD1}"/>
              </a:ext>
            </a:extLst>
          </p:cNvPr>
          <p:cNvSpPr>
            <a:spLocks noGrp="1"/>
          </p:cNvSpPr>
          <p:nvPr/>
        </p:nvSpPr>
        <p:spPr>
          <a:xfrm>
            <a:off x="866775" y="415106"/>
            <a:ext cx="2095500" cy="1428750"/>
          </a:xfrm>
          <a:prstGeom prst="roundRect">
            <a:avLst>
              <a:gd name="adj" fmla="val 8000"/>
            </a:avLst>
          </a:prstGeom>
          <a:ln w="19050">
            <a:solidFill>
              <a:srgbClr val="0F172B"/>
            </a:solidFill>
            <a:prstDash val="dash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CA9827-7FAC-4A55-9AE6-6DA2EA512952}"/>
              </a:ext>
            </a:extLst>
          </p:cNvPr>
          <p:cNvSpPr>
            <a:spLocks noGrp="1"/>
          </p:cNvSpPr>
          <p:nvPr/>
        </p:nvSpPr>
        <p:spPr>
          <a:xfrm>
            <a:off x="942975" y="529406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Stage 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AA35A8-C762-4876-80AD-3588238844A5}"/>
              </a:ext>
            </a:extLst>
          </p:cNvPr>
          <p:cNvSpPr>
            <a:spLocks noGrp="1"/>
          </p:cNvSpPr>
          <p:nvPr/>
        </p:nvSpPr>
        <p:spPr>
          <a:xfrm>
            <a:off x="1057275" y="929456"/>
            <a:ext cx="666750" cy="704850"/>
          </a:xfrm>
          <a:prstGeom prst="roundRect">
            <a:avLst>
              <a:gd name="adj" fmla="val 8571"/>
            </a:avLst>
          </a:prstGeom>
          <a:solidFill>
            <a:srgbClr val="B8D7EE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Input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96 x 96 RGB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4FACC6-CDA3-44FD-A3EB-D336C26422B1}"/>
              </a:ext>
            </a:extLst>
          </p:cNvPr>
          <p:cNvSpPr>
            <a:spLocks noGrp="1"/>
          </p:cNvSpPr>
          <p:nvPr/>
        </p:nvSpPr>
        <p:spPr>
          <a:xfrm>
            <a:off x="1933575" y="929456"/>
            <a:ext cx="819150" cy="704850"/>
          </a:xfrm>
          <a:prstGeom prst="roundRect">
            <a:avLst>
              <a:gd name="adj" fmla="val 8108"/>
            </a:avLst>
          </a:prstGeom>
          <a:solidFill>
            <a:srgbClr val="FFF2CC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Conv Stem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3 x 3 + ReLU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EDD3ED-462E-4B6C-AECA-13A928A64C2B}"/>
              </a:ext>
            </a:extLst>
          </p:cNvPr>
          <p:cNvSpPr>
            <a:spLocks noGrp="1"/>
          </p:cNvSpPr>
          <p:nvPr/>
        </p:nvSpPr>
        <p:spPr>
          <a:xfrm>
            <a:off x="3152775" y="415106"/>
            <a:ext cx="2095500" cy="1428750"/>
          </a:xfrm>
          <a:prstGeom prst="roundRect">
            <a:avLst>
              <a:gd name="adj" fmla="val 8000"/>
            </a:avLst>
          </a:prstGeom>
          <a:ln w="19050">
            <a:solidFill>
              <a:srgbClr val="0F172B"/>
            </a:solidFill>
            <a:prstDash val="dash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D9254E-F049-4826-B123-7CE68278D7D6}"/>
              </a:ext>
            </a:extLst>
          </p:cNvPr>
          <p:cNvSpPr>
            <a:spLocks noGrp="1"/>
          </p:cNvSpPr>
          <p:nvPr/>
        </p:nvSpPr>
        <p:spPr>
          <a:xfrm>
            <a:off x="3228975" y="529406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Stage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DD343BF-C023-4E67-B337-C21ED151CAEF}"/>
              </a:ext>
            </a:extLst>
          </p:cNvPr>
          <p:cNvSpPr>
            <a:spLocks noGrp="1"/>
          </p:cNvSpPr>
          <p:nvPr/>
        </p:nvSpPr>
        <p:spPr>
          <a:xfrm>
            <a:off x="3343275" y="929456"/>
            <a:ext cx="552450" cy="704850"/>
          </a:xfrm>
          <a:prstGeom prst="roundRect">
            <a:avLst>
              <a:gd name="adj" fmla="val 10345"/>
            </a:avLst>
          </a:prstGeom>
          <a:solidFill>
            <a:srgbClr val="B8D7EE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Pool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2654CB-9151-4FCB-9EB2-90A198C0C441}"/>
              </a:ext>
            </a:extLst>
          </p:cNvPr>
          <p:cNvSpPr>
            <a:spLocks noGrp="1"/>
          </p:cNvSpPr>
          <p:nvPr/>
        </p:nvSpPr>
        <p:spPr>
          <a:xfrm>
            <a:off x="4086225" y="872306"/>
            <a:ext cx="952500" cy="819150"/>
          </a:xfrm>
          <a:prstGeom prst="roundRect">
            <a:avLst>
              <a:gd name="adj" fmla="val 6977"/>
            </a:avLst>
          </a:prstGeom>
          <a:solidFill>
            <a:srgbClr val="FFF2CC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Depthwise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Separable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Block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A73AB0-B3F3-4BF2-8E85-70C7E97D6E3C}"/>
              </a:ext>
            </a:extLst>
          </p:cNvPr>
          <p:cNvSpPr>
            <a:spLocks noGrp="1"/>
          </p:cNvSpPr>
          <p:nvPr/>
        </p:nvSpPr>
        <p:spPr>
          <a:xfrm>
            <a:off x="5438775" y="415106"/>
            <a:ext cx="2095500" cy="1428750"/>
          </a:xfrm>
          <a:prstGeom prst="roundRect">
            <a:avLst>
              <a:gd name="adj" fmla="val 8000"/>
            </a:avLst>
          </a:prstGeom>
          <a:ln w="19050">
            <a:solidFill>
              <a:srgbClr val="0F172B"/>
            </a:solidFill>
            <a:prstDash val="dash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F0FDA6-4981-48C3-9EAF-57437FB46F9C}"/>
              </a:ext>
            </a:extLst>
          </p:cNvPr>
          <p:cNvSpPr>
            <a:spLocks noGrp="1"/>
          </p:cNvSpPr>
          <p:nvPr/>
        </p:nvSpPr>
        <p:spPr>
          <a:xfrm>
            <a:off x="5514975" y="529406"/>
            <a:ext cx="1943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Stage 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55250A-CB74-4757-AD20-360D61CBF2C0}"/>
              </a:ext>
            </a:extLst>
          </p:cNvPr>
          <p:cNvSpPr>
            <a:spLocks noGrp="1"/>
          </p:cNvSpPr>
          <p:nvPr/>
        </p:nvSpPr>
        <p:spPr>
          <a:xfrm>
            <a:off x="5629275" y="929456"/>
            <a:ext cx="552450" cy="704850"/>
          </a:xfrm>
          <a:prstGeom prst="roundRect">
            <a:avLst>
              <a:gd name="adj" fmla="val 10345"/>
            </a:avLst>
          </a:prstGeom>
          <a:solidFill>
            <a:srgbClr val="B8D7EE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Pool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5C76BDD-472D-467C-8971-0DB4D6582D4D}"/>
              </a:ext>
            </a:extLst>
          </p:cNvPr>
          <p:cNvSpPr>
            <a:spLocks noGrp="1"/>
          </p:cNvSpPr>
          <p:nvPr/>
        </p:nvSpPr>
        <p:spPr>
          <a:xfrm>
            <a:off x="6372225" y="872306"/>
            <a:ext cx="952500" cy="819150"/>
          </a:xfrm>
          <a:prstGeom prst="roundRect">
            <a:avLst>
              <a:gd name="adj" fmla="val 6977"/>
            </a:avLst>
          </a:prstGeom>
          <a:solidFill>
            <a:srgbClr val="FFF2CC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Repeated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Separable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Blocks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5E6212F-43BC-41FD-BA72-F8209B1B10AD}"/>
              </a:ext>
            </a:extLst>
          </p:cNvPr>
          <p:cNvSpPr>
            <a:spLocks noGrp="1"/>
          </p:cNvSpPr>
          <p:nvPr/>
        </p:nvSpPr>
        <p:spPr>
          <a:xfrm>
            <a:off x="7724775" y="415106"/>
            <a:ext cx="2381250" cy="1428750"/>
          </a:xfrm>
          <a:prstGeom prst="roundRect">
            <a:avLst>
              <a:gd name="adj" fmla="val 8000"/>
            </a:avLst>
          </a:prstGeom>
          <a:ln w="19050">
            <a:solidFill>
              <a:srgbClr val="0F172B"/>
            </a:solidFill>
            <a:prstDash val="dash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0F7AE9-64EF-4C33-B9F5-8F24BA89FFFA}"/>
              </a:ext>
            </a:extLst>
          </p:cNvPr>
          <p:cNvSpPr>
            <a:spLocks noGrp="1"/>
          </p:cNvSpPr>
          <p:nvPr/>
        </p:nvSpPr>
        <p:spPr>
          <a:xfrm>
            <a:off x="7800975" y="529406"/>
            <a:ext cx="2228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020618"/>
                </a:solidFill>
              </a:defRPr>
            </a:pPr>
            <a:r>
              <a:rPr sz="1200" b="0">
                <a:solidFill>
                  <a:srgbClr val="020618"/>
                </a:solidFill>
              </a:rPr>
              <a:t>Stage 4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A67280-BBA4-4D1F-BFB5-8645DB5C8B04}"/>
              </a:ext>
            </a:extLst>
          </p:cNvPr>
          <p:cNvSpPr>
            <a:spLocks noGrp="1"/>
          </p:cNvSpPr>
          <p:nvPr/>
        </p:nvSpPr>
        <p:spPr>
          <a:xfrm>
            <a:off x="7915275" y="872306"/>
            <a:ext cx="1000125" cy="819150"/>
          </a:xfrm>
          <a:prstGeom prst="roundRect">
            <a:avLst>
              <a:gd name="adj" fmla="val 6977"/>
            </a:avLst>
          </a:prstGeom>
          <a:solidFill>
            <a:srgbClr val="FFD966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Final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Separable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Block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101BE5-2859-40E7-9550-B4CC13DE786C}"/>
              </a:ext>
            </a:extLst>
          </p:cNvPr>
          <p:cNvSpPr>
            <a:spLocks noGrp="1"/>
          </p:cNvSpPr>
          <p:nvPr/>
        </p:nvSpPr>
        <p:spPr>
          <a:xfrm>
            <a:off x="9134475" y="815156"/>
            <a:ext cx="742950" cy="914400"/>
          </a:xfrm>
          <a:prstGeom prst="roundRect">
            <a:avLst>
              <a:gd name="adj" fmla="val 7692"/>
            </a:avLst>
          </a:prstGeom>
          <a:solidFill>
            <a:srgbClr val="B8D7EE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GAP +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>
                <a:solidFill>
                  <a:srgbClr val="020618"/>
                </a:solidFill>
              </a:rPr>
              <a:t>Dense(10)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A944C4-CDD1-465C-A7DB-1C8BE68C41BD}"/>
              </a:ext>
            </a:extLst>
          </p:cNvPr>
          <p:cNvSpPr>
            <a:spLocks noGrp="1"/>
          </p:cNvSpPr>
          <p:nvPr/>
        </p:nvSpPr>
        <p:spPr>
          <a:xfrm>
            <a:off x="10448925" y="1015643"/>
            <a:ext cx="876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Output</a:t>
            </a:r>
          </a:p>
          <a:p>
            <a:pPr algn="ctr">
              <a:defRPr sz="1200" b="1">
                <a:solidFill>
                  <a:srgbClr val="020618"/>
                </a:solidFill>
              </a:defRPr>
            </a:pPr>
            <a:r>
              <a:rPr sz="1200" b="1">
                <a:solidFill>
                  <a:srgbClr val="020618"/>
                </a:solidFill>
              </a:rPr>
              <a:t>10 classes</a:t>
            </a:r>
          </a:p>
        </p:txBody>
      </p:sp>
      <p:cxnSp>
        <p:nvCxnSpPr>
          <p:cNvPr id="79" name="Straight Arrow Connector 78"/>
          <p:cNvCxnSpPr>
            <a:stCxn id="4" idx="3"/>
            <a:endCxn id="5" idx="1"/>
          </p:cNvCxnSpPr>
          <p:nvPr/>
        </p:nvCxnSpPr>
        <p:spPr>
          <a:xfrm>
            <a:off x="1724025" y="1281881"/>
            <a:ext cx="209550" cy="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80" name="Straight Arrow Connector 79"/>
          <p:cNvCxnSpPr>
            <a:stCxn id="5" idx="3"/>
            <a:endCxn id="8" idx="1"/>
          </p:cNvCxnSpPr>
          <p:nvPr/>
        </p:nvCxnSpPr>
        <p:spPr>
          <a:xfrm>
            <a:off x="2752725" y="1281881"/>
            <a:ext cx="590550" cy="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81" name="Straight Arrow Connector 80"/>
          <p:cNvCxnSpPr>
            <a:stCxn id="8" idx="3"/>
            <a:endCxn id="9" idx="1"/>
          </p:cNvCxnSpPr>
          <p:nvPr/>
        </p:nvCxnSpPr>
        <p:spPr>
          <a:xfrm>
            <a:off x="3895725" y="1281881"/>
            <a:ext cx="190500" cy="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82" name="Straight Arrow Connector 81"/>
          <p:cNvCxnSpPr>
            <a:stCxn id="9" idx="3"/>
            <a:endCxn id="12" idx="1"/>
          </p:cNvCxnSpPr>
          <p:nvPr/>
        </p:nvCxnSpPr>
        <p:spPr>
          <a:xfrm>
            <a:off x="5038725" y="1281881"/>
            <a:ext cx="590550" cy="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83" name="Straight Arrow Connector 82"/>
          <p:cNvCxnSpPr>
            <a:stCxn id="12" idx="3"/>
            <a:endCxn id="13" idx="1"/>
          </p:cNvCxnSpPr>
          <p:nvPr/>
        </p:nvCxnSpPr>
        <p:spPr>
          <a:xfrm>
            <a:off x="6181725" y="1281881"/>
            <a:ext cx="190500" cy="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84" name="Straight Arrow Connector 83"/>
          <p:cNvCxnSpPr>
            <a:stCxn id="13" idx="3"/>
            <a:endCxn id="16" idx="1"/>
          </p:cNvCxnSpPr>
          <p:nvPr/>
        </p:nvCxnSpPr>
        <p:spPr>
          <a:xfrm>
            <a:off x="7324725" y="1281881"/>
            <a:ext cx="590550" cy="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85" name="Straight Arrow Connector 84"/>
          <p:cNvCxnSpPr>
            <a:stCxn id="16" idx="3"/>
            <a:endCxn id="17" idx="1"/>
          </p:cNvCxnSpPr>
          <p:nvPr/>
        </p:nvCxnSpPr>
        <p:spPr>
          <a:xfrm flipV="1">
            <a:off x="8915400" y="1272356"/>
            <a:ext cx="219075" cy="9525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86" name="Straight Arrow Connector 85"/>
          <p:cNvCxnSpPr>
            <a:stCxn id="17" idx="3"/>
            <a:endCxn id="18" idx="1"/>
          </p:cNvCxnSpPr>
          <p:nvPr/>
        </p:nvCxnSpPr>
        <p:spPr>
          <a:xfrm flipV="1">
            <a:off x="9877425" y="1263293"/>
            <a:ext cx="571500" cy="9063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B57A4C7-E045-4B1D-B7AD-E9340D4DBE9A}"/>
              </a:ext>
            </a:extLst>
          </p:cNvPr>
          <p:cNvSpPr>
            <a:spLocks noGrp="1"/>
          </p:cNvSpPr>
          <p:nvPr/>
        </p:nvSpPr>
        <p:spPr>
          <a:xfrm>
            <a:off x="416642" y="43631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20618"/>
                </a:solidFill>
              </a:defRPr>
            </a:pPr>
            <a:r>
              <a:rPr sz="1200" b="1" dirty="0">
                <a:solidFill>
                  <a:srgbClr val="020618"/>
                </a:solidFill>
              </a:rPr>
              <a:t>(a) Embedded student inference pipeline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E9CE8BD-A5E9-4038-B413-34A3C2FE34C6}"/>
              </a:ext>
            </a:extLst>
          </p:cNvPr>
          <p:cNvSpPr>
            <a:spLocks noGrp="1"/>
          </p:cNvSpPr>
          <p:nvPr/>
        </p:nvSpPr>
        <p:spPr>
          <a:xfrm>
            <a:off x="3914775" y="2110556"/>
            <a:ext cx="3143250" cy="3331903"/>
          </a:xfrm>
          <a:prstGeom prst="roundRect">
            <a:avLst>
              <a:gd name="adj" fmla="val 3636"/>
            </a:avLst>
          </a:prstGeom>
          <a:ln w="19050">
            <a:solidFill>
              <a:srgbClr val="0F172B"/>
            </a:solidFill>
            <a:prstDash val="dash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4F1042-7FEF-477A-990F-11DF2F3B5977}"/>
              </a:ext>
            </a:extLst>
          </p:cNvPr>
          <p:cNvSpPr>
            <a:spLocks noGrp="1"/>
          </p:cNvSpPr>
          <p:nvPr/>
        </p:nvSpPr>
        <p:spPr>
          <a:xfrm>
            <a:off x="4114800" y="2202424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 dirty="0">
                <a:solidFill>
                  <a:srgbClr val="020618"/>
                </a:solidFill>
              </a:rPr>
              <a:t>(b) </a:t>
            </a:r>
            <a:r>
              <a:rPr sz="1275" b="1" dirty="0" err="1">
                <a:solidFill>
                  <a:srgbClr val="020618"/>
                </a:solidFill>
              </a:rPr>
              <a:t>Depthwise</a:t>
            </a:r>
            <a:r>
              <a:rPr sz="1275" b="1" dirty="0">
                <a:solidFill>
                  <a:srgbClr val="020618"/>
                </a:solidFill>
              </a:rPr>
              <a:t> separable block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E7BC215-CDC3-4D3A-9B96-4396EF96B8DC}"/>
              </a:ext>
            </a:extLst>
          </p:cNvPr>
          <p:cNvSpPr>
            <a:spLocks noGrp="1"/>
          </p:cNvSpPr>
          <p:nvPr/>
        </p:nvSpPr>
        <p:spPr>
          <a:xfrm>
            <a:off x="4400550" y="2565909"/>
            <a:ext cx="2095500" cy="514350"/>
          </a:xfrm>
          <a:prstGeom prst="roundRect">
            <a:avLst>
              <a:gd name="adj" fmla="val 11111"/>
            </a:avLst>
          </a:prstGeom>
          <a:solidFill>
            <a:srgbClr val="A9D18E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 dirty="0">
                <a:solidFill>
                  <a:srgbClr val="020618"/>
                </a:solidFill>
              </a:rPr>
              <a:t>1 x 1 Pointwise Conv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 dirty="0">
                <a:solidFill>
                  <a:srgbClr val="020618"/>
                </a:solidFill>
              </a:rPr>
              <a:t>BN / </a:t>
            </a:r>
            <a:r>
              <a:rPr sz="1050" b="1" dirty="0" err="1">
                <a:solidFill>
                  <a:srgbClr val="020618"/>
                </a:solidFill>
              </a:rPr>
              <a:t>ReLU</a:t>
            </a:r>
            <a:endParaRPr sz="1050" b="1" dirty="0">
              <a:solidFill>
                <a:srgbClr val="020618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AD02E29-AB9B-4BB5-9341-485413F266E0}"/>
              </a:ext>
            </a:extLst>
          </p:cNvPr>
          <p:cNvSpPr>
            <a:spLocks noGrp="1"/>
          </p:cNvSpPr>
          <p:nvPr/>
        </p:nvSpPr>
        <p:spPr>
          <a:xfrm>
            <a:off x="4400550" y="3366009"/>
            <a:ext cx="2095500" cy="514350"/>
          </a:xfrm>
          <a:prstGeom prst="roundRect">
            <a:avLst>
              <a:gd name="adj" fmla="val 11111"/>
            </a:avLst>
          </a:prstGeom>
          <a:solidFill>
            <a:srgbClr val="A9D18E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3 x 3 Depthwise Conv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BN / ReLU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D4929A-156F-44D0-B1FC-5CD494D45937}"/>
              </a:ext>
            </a:extLst>
          </p:cNvPr>
          <p:cNvSpPr>
            <a:spLocks noGrp="1"/>
          </p:cNvSpPr>
          <p:nvPr/>
        </p:nvSpPr>
        <p:spPr>
          <a:xfrm>
            <a:off x="4400550" y="4166109"/>
            <a:ext cx="2095500" cy="514350"/>
          </a:xfrm>
          <a:prstGeom prst="roundRect">
            <a:avLst>
              <a:gd name="adj" fmla="val 11111"/>
            </a:avLst>
          </a:prstGeom>
          <a:solidFill>
            <a:srgbClr val="9DC3E6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MaxPool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activation memory reduced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F27609-3C02-450F-896A-BF7B4B01AEFE}"/>
              </a:ext>
            </a:extLst>
          </p:cNvPr>
          <p:cNvSpPr>
            <a:spLocks noGrp="1"/>
          </p:cNvSpPr>
          <p:nvPr/>
        </p:nvSpPr>
        <p:spPr>
          <a:xfrm>
            <a:off x="5238750" y="4881407"/>
            <a:ext cx="419100" cy="3429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20618"/>
                </a:solidFill>
              </a:defRPr>
            </a:pPr>
            <a:r>
              <a:rPr sz="1500" b="1" dirty="0">
                <a:solidFill>
                  <a:srgbClr val="020618"/>
                </a:solidFill>
              </a:rPr>
              <a:t>+</a:t>
            </a:r>
          </a:p>
        </p:txBody>
      </p:sp>
      <p:cxnSp>
        <p:nvCxnSpPr>
          <p:cNvPr id="94" name="Straight Arrow Connector 93"/>
          <p:cNvCxnSpPr>
            <a:stCxn id="30" idx="2"/>
            <a:endCxn id="31" idx="0"/>
          </p:cNvCxnSpPr>
          <p:nvPr/>
        </p:nvCxnSpPr>
        <p:spPr>
          <a:xfrm>
            <a:off x="5448300" y="3080259"/>
            <a:ext cx="0" cy="28575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95" name="Straight Arrow Connector 94"/>
          <p:cNvCxnSpPr>
            <a:stCxn id="31" idx="2"/>
            <a:endCxn id="32" idx="0"/>
          </p:cNvCxnSpPr>
          <p:nvPr/>
        </p:nvCxnSpPr>
        <p:spPr>
          <a:xfrm>
            <a:off x="5448300" y="3880359"/>
            <a:ext cx="0" cy="28575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96" name="Straight Arrow Connector 95"/>
          <p:cNvCxnSpPr>
            <a:stCxn id="32" idx="2"/>
            <a:endCxn id="33" idx="0"/>
          </p:cNvCxnSpPr>
          <p:nvPr/>
        </p:nvCxnSpPr>
        <p:spPr>
          <a:xfrm>
            <a:off x="5448300" y="4680459"/>
            <a:ext cx="0" cy="200948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F6425C9-745F-4CA5-94D6-763A0973F8B2}"/>
              </a:ext>
            </a:extLst>
          </p:cNvPr>
          <p:cNvSpPr>
            <a:spLocks noGrp="1"/>
          </p:cNvSpPr>
          <p:nvPr/>
        </p:nvSpPr>
        <p:spPr>
          <a:xfrm>
            <a:off x="561976" y="2088740"/>
            <a:ext cx="3143250" cy="3434527"/>
          </a:xfrm>
          <a:prstGeom prst="roundRect">
            <a:avLst>
              <a:gd name="adj" fmla="val 3636"/>
            </a:avLst>
          </a:prstGeom>
          <a:ln w="19050">
            <a:solidFill>
              <a:srgbClr val="0F172B"/>
            </a:solidFill>
            <a:prstDash val="dash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6E284E2-FFED-4818-BA34-003F7332D4D6}"/>
              </a:ext>
            </a:extLst>
          </p:cNvPr>
          <p:cNvSpPr>
            <a:spLocks noGrp="1"/>
          </p:cNvSpPr>
          <p:nvPr/>
        </p:nvSpPr>
        <p:spPr>
          <a:xfrm>
            <a:off x="828676" y="2222091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(c) Transfer learning + distillation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DCAE382-E0C1-4C96-A232-546BE091CFED}"/>
              </a:ext>
            </a:extLst>
          </p:cNvPr>
          <p:cNvSpPr>
            <a:spLocks noGrp="1"/>
          </p:cNvSpPr>
          <p:nvPr/>
        </p:nvSpPr>
        <p:spPr>
          <a:xfrm>
            <a:off x="1095376" y="2622141"/>
            <a:ext cx="2076450" cy="495300"/>
          </a:xfrm>
          <a:prstGeom prst="roundRect">
            <a:avLst>
              <a:gd name="adj" fmla="val 11538"/>
            </a:avLst>
          </a:prstGeom>
          <a:solidFill>
            <a:srgbClr val="F4CCCC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Teacher CNN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224 x 224 RGB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FA6147D-FB6D-4F2A-8973-CD1BD1900022}"/>
              </a:ext>
            </a:extLst>
          </p:cNvPr>
          <p:cNvSpPr>
            <a:spLocks noGrp="1"/>
          </p:cNvSpPr>
          <p:nvPr/>
        </p:nvSpPr>
        <p:spPr>
          <a:xfrm>
            <a:off x="1095376" y="3346041"/>
            <a:ext cx="2076450" cy="457200"/>
          </a:xfrm>
          <a:prstGeom prst="roundRect">
            <a:avLst>
              <a:gd name="adj" fmla="val 12500"/>
            </a:avLst>
          </a:prstGeom>
          <a:solidFill>
            <a:srgbClr val="D9EAD3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Soft probabilities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T = 4.0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72EA19A-C58F-4D39-87C3-4FEBDE64B41A}"/>
              </a:ext>
            </a:extLst>
          </p:cNvPr>
          <p:cNvSpPr>
            <a:spLocks noGrp="1"/>
          </p:cNvSpPr>
          <p:nvPr/>
        </p:nvSpPr>
        <p:spPr>
          <a:xfrm>
            <a:off x="885826" y="4241391"/>
            <a:ext cx="1123950" cy="457200"/>
          </a:xfrm>
          <a:prstGeom prst="roundRect">
            <a:avLst>
              <a:gd name="adj" fmla="val 12500"/>
            </a:avLst>
          </a:prstGeom>
          <a:solidFill>
            <a:srgbClr val="D9EAF7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Hard labels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CE loss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7474D8E-4C90-4FA4-A662-A4D32C7C79A1}"/>
              </a:ext>
            </a:extLst>
          </p:cNvPr>
          <p:cNvSpPr>
            <a:spLocks noGrp="1"/>
          </p:cNvSpPr>
          <p:nvPr/>
        </p:nvSpPr>
        <p:spPr>
          <a:xfrm>
            <a:off x="2257426" y="4241391"/>
            <a:ext cx="1123950" cy="457200"/>
          </a:xfrm>
          <a:prstGeom prst="roundRect">
            <a:avLst>
              <a:gd name="adj" fmla="val 12500"/>
            </a:avLst>
          </a:prstGeom>
          <a:solidFill>
            <a:srgbClr val="D9EAF7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KL loss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alpha = 0.45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F63DE27-EE6F-4F1C-9CF8-A999A4D7BBA6}"/>
              </a:ext>
            </a:extLst>
          </p:cNvPr>
          <p:cNvSpPr>
            <a:spLocks noGrp="1"/>
          </p:cNvSpPr>
          <p:nvPr/>
        </p:nvSpPr>
        <p:spPr>
          <a:xfrm>
            <a:off x="1323976" y="4965291"/>
            <a:ext cx="1619250" cy="361950"/>
          </a:xfrm>
          <a:prstGeom prst="roundRect">
            <a:avLst>
              <a:gd name="adj" fmla="val 15789"/>
            </a:avLst>
          </a:prstGeom>
          <a:solidFill>
            <a:srgbClr val="D9D2E9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Student update</a:t>
            </a:r>
          </a:p>
        </p:txBody>
      </p:sp>
      <p:cxnSp>
        <p:nvCxnSpPr>
          <p:cNvPr id="104" name="Straight Arrow Connector 103"/>
          <p:cNvCxnSpPr>
            <a:stCxn id="39" idx="2"/>
            <a:endCxn id="40" idx="0"/>
          </p:cNvCxnSpPr>
          <p:nvPr/>
        </p:nvCxnSpPr>
        <p:spPr>
          <a:xfrm>
            <a:off x="2133601" y="3117441"/>
            <a:ext cx="0" cy="228600"/>
          </a:xfrm>
          <a:prstGeom prst="straightConnector1">
            <a:avLst/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105" name="Connector: Elbow 104"/>
          <p:cNvCxnSpPr>
            <a:stCxn id="40" idx="2"/>
            <a:endCxn id="42" idx="0"/>
          </p:cNvCxnSpPr>
          <p:nvPr/>
        </p:nvCxnSpPr>
        <p:spPr>
          <a:xfrm>
            <a:off x="2133601" y="3803241"/>
            <a:ext cx="685800" cy="438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106" name="Connector: Elbow 105"/>
          <p:cNvCxnSpPr>
            <a:stCxn id="41" idx="2"/>
            <a:endCxn id="43" idx="0"/>
          </p:cNvCxnSpPr>
          <p:nvPr/>
        </p:nvCxnSpPr>
        <p:spPr>
          <a:xfrm>
            <a:off x="1447801" y="4698591"/>
            <a:ext cx="685800" cy="2667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107" name="Connector: Elbow 106"/>
          <p:cNvCxnSpPr>
            <a:stCxn id="42" idx="2"/>
            <a:endCxn id="43" idx="0"/>
          </p:cNvCxnSpPr>
          <p:nvPr/>
        </p:nvCxnSpPr>
        <p:spPr>
          <a:xfrm flipH="1">
            <a:off x="2133601" y="4698591"/>
            <a:ext cx="685800" cy="2667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5DA3E76-1F50-4C83-BBEB-1B671192663A}"/>
              </a:ext>
            </a:extLst>
          </p:cNvPr>
          <p:cNvSpPr>
            <a:spLocks noGrp="1"/>
          </p:cNvSpPr>
          <p:nvPr/>
        </p:nvSpPr>
        <p:spPr>
          <a:xfrm>
            <a:off x="7361857" y="2099428"/>
            <a:ext cx="3143250" cy="3434526"/>
          </a:xfrm>
          <a:prstGeom prst="roundRect">
            <a:avLst>
              <a:gd name="adj" fmla="val 3636"/>
            </a:avLst>
          </a:prstGeom>
          <a:ln w="19050">
            <a:solidFill>
              <a:srgbClr val="0F172B"/>
            </a:solidFill>
            <a:prstDash val="dash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E0CE587-6A2E-4585-BC97-C0067906E2BB}"/>
              </a:ext>
            </a:extLst>
          </p:cNvPr>
          <p:cNvSpPr>
            <a:spLocks noGrp="1"/>
          </p:cNvSpPr>
          <p:nvPr/>
        </p:nvSpPr>
        <p:spPr>
          <a:xfrm>
            <a:off x="7553324" y="2182516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(d) Hardware deployment path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88354885-96AC-4A54-AD45-45911E9C86C5}"/>
              </a:ext>
            </a:extLst>
          </p:cNvPr>
          <p:cNvSpPr>
            <a:spLocks noGrp="1"/>
          </p:cNvSpPr>
          <p:nvPr/>
        </p:nvSpPr>
        <p:spPr>
          <a:xfrm>
            <a:off x="7762874" y="2582566"/>
            <a:ext cx="1143000" cy="514350"/>
          </a:xfrm>
          <a:prstGeom prst="roundRect">
            <a:avLst>
              <a:gd name="adj" fmla="val 11111"/>
            </a:avLst>
          </a:prstGeom>
          <a:solidFill>
            <a:srgbClr val="D9EAD3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INT8 TFLite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22.7 KB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53E1FB5-72E4-4E4A-A0A4-AB26C8410946}"/>
              </a:ext>
            </a:extLst>
          </p:cNvPr>
          <p:cNvSpPr>
            <a:spLocks noGrp="1"/>
          </p:cNvSpPr>
          <p:nvPr/>
        </p:nvSpPr>
        <p:spPr>
          <a:xfrm>
            <a:off x="8829674" y="3500193"/>
            <a:ext cx="1257300" cy="514350"/>
          </a:xfrm>
          <a:prstGeom prst="roundRect">
            <a:avLst>
              <a:gd name="adj" fmla="val 11111"/>
            </a:avLst>
          </a:prstGeom>
          <a:solidFill>
            <a:srgbClr val="FFF2CC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 dirty="0">
                <a:solidFill>
                  <a:srgbClr val="020618"/>
                </a:solidFill>
              </a:rPr>
              <a:t>Tensor arena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 dirty="0">
                <a:solidFill>
                  <a:srgbClr val="020618"/>
                </a:solidFill>
              </a:rPr>
              <a:t>204.8 KB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839F1D4-AE91-4E86-B363-F0105B400D81}"/>
              </a:ext>
            </a:extLst>
          </p:cNvPr>
          <p:cNvSpPr>
            <a:spLocks noGrp="1"/>
          </p:cNvSpPr>
          <p:nvPr/>
        </p:nvSpPr>
        <p:spPr>
          <a:xfrm>
            <a:off x="7762874" y="4182766"/>
            <a:ext cx="1219200" cy="514350"/>
          </a:xfrm>
          <a:prstGeom prst="roundRect">
            <a:avLst>
              <a:gd name="adj" fmla="val 11111"/>
            </a:avLst>
          </a:prstGeom>
          <a:solidFill>
            <a:srgbClr val="D9EAF7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Image header</a:t>
            </a:r>
          </a:p>
          <a:p>
            <a:pPr algn="ctr">
              <a:defRPr sz="1050" b="1">
                <a:solidFill>
                  <a:srgbClr val="020618"/>
                </a:solidFill>
              </a:defRPr>
            </a:pPr>
            <a:r>
              <a:rPr sz="1050" b="1">
                <a:solidFill>
                  <a:srgbClr val="020618"/>
                </a:solidFill>
              </a:rPr>
              <a:t>96 x 96 x 3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96A1651-F9D6-44CB-9267-FD76BE0C22EF}"/>
              </a:ext>
            </a:extLst>
          </p:cNvPr>
          <p:cNvSpPr>
            <a:spLocks noGrp="1"/>
          </p:cNvSpPr>
          <p:nvPr/>
        </p:nvSpPr>
        <p:spPr>
          <a:xfrm>
            <a:off x="8905874" y="4939235"/>
            <a:ext cx="1257300" cy="419100"/>
          </a:xfrm>
          <a:prstGeom prst="roundRect">
            <a:avLst>
              <a:gd name="adj" fmla="val 13636"/>
            </a:avLst>
          </a:prstGeom>
          <a:solidFill>
            <a:srgbClr val="FFD966"/>
          </a:solidFill>
          <a:ln w="19050">
            <a:solidFill>
              <a:srgbClr val="0F172B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 dirty="0">
                <a:solidFill>
                  <a:srgbClr val="020618"/>
                </a:solidFill>
              </a:rPr>
              <a:t>Class decision</a:t>
            </a:r>
          </a:p>
          <a:p>
            <a:pPr algn="ctr">
              <a:defRPr sz="975" b="1">
                <a:solidFill>
                  <a:srgbClr val="020618"/>
                </a:solidFill>
              </a:defRPr>
            </a:pPr>
            <a:r>
              <a:rPr sz="975" b="1" dirty="0">
                <a:solidFill>
                  <a:srgbClr val="020618"/>
                </a:solidFill>
              </a:rPr>
              <a:t>safe / distraction</a:t>
            </a:r>
          </a:p>
        </p:txBody>
      </p:sp>
      <p:cxnSp>
        <p:nvCxnSpPr>
          <p:cNvPr id="114" name="Connector: Elbow 113"/>
          <p:cNvCxnSpPr>
            <a:stCxn id="50" idx="3"/>
            <a:endCxn id="51" idx="1"/>
          </p:cNvCxnSpPr>
          <p:nvPr/>
        </p:nvCxnSpPr>
        <p:spPr>
          <a:xfrm flipH="1">
            <a:off x="8829674" y="2839741"/>
            <a:ext cx="76200" cy="917627"/>
          </a:xfrm>
          <a:prstGeom prst="bentConnector5">
            <a:avLst>
              <a:gd name="adj1" fmla="val -300000"/>
              <a:gd name="adj2" fmla="val 50000"/>
              <a:gd name="adj3" fmla="val 400000"/>
            </a:avLst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115" name="Connector: Elbow 114"/>
          <p:cNvCxnSpPr>
            <a:stCxn id="51" idx="2"/>
            <a:endCxn id="53" idx="0"/>
          </p:cNvCxnSpPr>
          <p:nvPr/>
        </p:nvCxnSpPr>
        <p:spPr>
          <a:xfrm rot="16200000" flipH="1">
            <a:off x="9034078" y="4438789"/>
            <a:ext cx="924692" cy="76200"/>
          </a:xfrm>
          <a:prstGeom prst="bentConnector3">
            <a:avLst>
              <a:gd name="adj1" fmla="val 50000"/>
            </a:avLst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116" name="Connector: Elbow 115"/>
          <p:cNvCxnSpPr>
            <a:stCxn id="52" idx="3"/>
            <a:endCxn id="53" idx="1"/>
          </p:cNvCxnSpPr>
          <p:nvPr/>
        </p:nvCxnSpPr>
        <p:spPr>
          <a:xfrm flipH="1">
            <a:off x="8905874" y="4439941"/>
            <a:ext cx="76200" cy="708844"/>
          </a:xfrm>
          <a:prstGeom prst="bentConnector5">
            <a:avLst>
              <a:gd name="adj1" fmla="val -300000"/>
              <a:gd name="adj2" fmla="val 53359"/>
              <a:gd name="adj3" fmla="val 400000"/>
            </a:avLst>
          </a:prstGeom>
          <a:ln w="19050">
            <a:solidFill>
              <a:srgbClr val="0F172B"/>
            </a:solidFill>
            <a:prstDash val="solid"/>
            <a:tailEnd type="arrow" w="med" len="med"/>
          </a:ln>
        </p:spPr>
      </p:cxnSp>
      <p:cxnSp>
        <p:nvCxnSpPr>
          <p:cNvPr id="117" name="Connector: Elbow 116"/>
          <p:cNvCxnSpPr>
            <a:cxnSpLocks/>
            <a:stCxn id="9" idx="2"/>
            <a:endCxn id="28" idx="0"/>
          </p:cNvCxnSpPr>
          <p:nvPr/>
        </p:nvCxnSpPr>
        <p:spPr>
          <a:xfrm rot="16200000" flipH="1">
            <a:off x="4814887" y="1439043"/>
            <a:ext cx="419100" cy="923925"/>
          </a:xfrm>
          <a:prstGeom prst="bentConnector3">
            <a:avLst>
              <a:gd name="adj1" fmla="val 50000"/>
            </a:avLst>
          </a:prstGeom>
          <a:ln w="14288">
            <a:solidFill>
              <a:srgbClr val="314158"/>
            </a:solidFill>
            <a:prstDash val="dash"/>
          </a:ln>
        </p:spPr>
      </p:cxnSp>
      <p:cxnSp>
        <p:nvCxnSpPr>
          <p:cNvPr id="118" name="Connector: Elbow 117"/>
          <p:cNvCxnSpPr>
            <a:cxnSpLocks/>
            <a:stCxn id="2" idx="2"/>
            <a:endCxn id="37" idx="0"/>
          </p:cNvCxnSpPr>
          <p:nvPr/>
        </p:nvCxnSpPr>
        <p:spPr>
          <a:xfrm rot="16200000" flipH="1">
            <a:off x="1901621" y="1856760"/>
            <a:ext cx="244884" cy="219076"/>
          </a:xfrm>
          <a:prstGeom prst="bentConnector3">
            <a:avLst>
              <a:gd name="adj1" fmla="val 50000"/>
            </a:avLst>
          </a:prstGeom>
          <a:ln w="14288">
            <a:solidFill>
              <a:srgbClr val="314158"/>
            </a:solidFill>
            <a:prstDash val="dash"/>
          </a:ln>
        </p:spPr>
      </p:cxnSp>
      <p:cxnSp>
        <p:nvCxnSpPr>
          <p:cNvPr id="119" name="Connector: Elbow 118"/>
          <p:cNvCxnSpPr>
            <a:cxnSpLocks/>
            <a:stCxn id="14" idx="2"/>
            <a:endCxn id="48" idx="0"/>
          </p:cNvCxnSpPr>
          <p:nvPr/>
        </p:nvCxnSpPr>
        <p:spPr>
          <a:xfrm rot="16200000" flipH="1">
            <a:off x="8796655" y="1962601"/>
            <a:ext cx="255572" cy="18082"/>
          </a:xfrm>
          <a:prstGeom prst="bentConnector3">
            <a:avLst>
              <a:gd name="adj1" fmla="val 50000"/>
            </a:avLst>
          </a:prstGeom>
          <a:ln w="14288">
            <a:solidFill>
              <a:srgbClr val="314158"/>
            </a:solidFill>
            <a:prstDash val="dash"/>
          </a:ln>
        </p:spPr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31B27BB1-9E89-4EC5-8583-5B2478D76F23}"/>
              </a:ext>
            </a:extLst>
          </p:cNvPr>
          <p:cNvSpPr>
            <a:spLocks noGrp="1"/>
          </p:cNvSpPr>
          <p:nvPr/>
        </p:nvSpPr>
        <p:spPr>
          <a:xfrm>
            <a:off x="278034" y="6003819"/>
            <a:ext cx="10782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314158"/>
                </a:solidFill>
              </a:defRPr>
            </a:pPr>
            <a:r>
              <a:rPr sz="1350" b="1" dirty="0">
                <a:solidFill>
                  <a:srgbClr val="314158"/>
                </a:solidFill>
              </a:rPr>
              <a:t>Shared student profile: 17 </a:t>
            </a:r>
            <a:r>
              <a:rPr sz="1350" b="1" dirty="0" err="1">
                <a:solidFill>
                  <a:srgbClr val="314158"/>
                </a:solidFill>
              </a:rPr>
              <a:t>Keras</a:t>
            </a:r>
            <a:r>
              <a:rPr sz="1350" b="1" dirty="0">
                <a:solidFill>
                  <a:srgbClr val="314158"/>
                </a:solidFill>
              </a:rPr>
              <a:t> layers, 10 learnable layers, 0.00553M parameters, 7.81M FLOPs</a:t>
            </a:r>
          </a:p>
        </p:txBody>
      </p:sp>
    </p:spTree>
    <p:extLst>
      <p:ext uri="{BB962C8B-B14F-4D97-AF65-F5344CB8AC3E}">
        <p14:creationId xmlns:p14="http://schemas.microsoft.com/office/powerpoint/2010/main" val="5933755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146</Words>
  <Application>Microsoft Office PowerPoint</Application>
  <DocSecurity>0</DocSecurity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harikiruthik G.R.</cp:lastModifiedBy>
  <cp:revision>2</cp:revision>
  <dcterms:created xsi:type="dcterms:W3CDTF">2026-08-28T10:53:13Z</dcterms:created>
  <dcterms:modified xsi:type="dcterms:W3CDTF">2026-08-28T15:15:38Z</dcterms:modified>
</cp:coreProperties>
</file>